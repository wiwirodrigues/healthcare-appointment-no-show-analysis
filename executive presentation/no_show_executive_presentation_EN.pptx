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19" r:id="rId3"/>
    <p:sldId id="322" r:id="rId4"/>
    <p:sldId id="270" r:id="rId5"/>
    <p:sldId id="273" r:id="rId6"/>
    <p:sldId id="359" r:id="rId7"/>
    <p:sldId id="369" r:id="rId8"/>
    <p:sldId id="287" r:id="rId9"/>
    <p:sldId id="371" r:id="rId10"/>
    <p:sldId id="351" r:id="rId11"/>
    <p:sldId id="352" r:id="rId12"/>
    <p:sldId id="309" r:id="rId13"/>
    <p:sldId id="312" r:id="rId14"/>
    <p:sldId id="364" r:id="rId15"/>
    <p:sldId id="365" r:id="rId16"/>
    <p:sldId id="334" r:id="rId17"/>
    <p:sldId id="335" r:id="rId18"/>
    <p:sldId id="366" r:id="rId19"/>
    <p:sldId id="338" r:id="rId20"/>
    <p:sldId id="355" r:id="rId21"/>
    <p:sldId id="340" r:id="rId22"/>
    <p:sldId id="341" r:id="rId23"/>
    <p:sldId id="3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EC5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576-4B0C-992C-DE5FCBB35A52}"/>
              </c:ext>
            </c:extLst>
          </c:dPt>
          <c:dPt>
            <c:idx val="5"/>
            <c:invertIfNegative val="0"/>
            <c:bubble3D val="0"/>
            <c:spPr>
              <a:solidFill>
                <a:srgbClr val="5E6B7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18D-40F1-AE56-FB18DF89471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33.0%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76-4B0C-992C-DE5FCBB35A5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32.5%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2BF-4D5F-9B2D-B44291B14E6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30.8%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2BF-4D5F-9B2D-B44291B14E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25.2%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2BF-4D5F-9B2D-B44291B14E6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22.9%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2BF-4D5F-9B2D-B44291B14E6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4.6%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18D-40F1-AE56-FB18DF89471A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3232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6"/>
              <c:pt idx="0">
                <c:v>31+ days</c:v>
              </c:pt>
              <c:pt idx="1">
                <c:v>16–30 days</c:v>
              </c:pt>
              <c:pt idx="2">
                <c:v>8–15 days</c:v>
              </c:pt>
              <c:pt idx="3">
                <c:v>4–7 days</c:v>
              </c:pt>
              <c:pt idx="4">
                <c:v>1–3 days</c:v>
              </c:pt>
              <c:pt idx="5">
                <c:v>Same day</c:v>
              </c:pt>
            </c:strLit>
          </c:cat>
          <c:val>
            <c:numLit>
              <c:formatCode>General</c:formatCode>
              <c:ptCount val="6"/>
              <c:pt idx="0">
                <c:v>33</c:v>
              </c:pt>
              <c:pt idx="1">
                <c:v>32.5</c:v>
              </c:pt>
              <c:pt idx="2">
                <c:v>30.8</c:v>
              </c:pt>
              <c:pt idx="3">
                <c:v>25.2</c:v>
              </c:pt>
              <c:pt idx="4">
                <c:v>22.9</c:v>
              </c:pt>
              <c:pt idx="5">
                <c:v>4.5999999999999996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576-4B0C-992C-DE5FCBB35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32323"/>
                </a:solidFill>
                <a:latin typeface="Segoe UI"/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5"/>
          <c:min val="0"/>
        </c:scaling>
        <c:delete val="0"/>
        <c:axPos val="b"/>
        <c:majorGridlines>
          <c:spPr>
            <a:ln w="6350">
              <a:solidFill>
                <a:srgbClr val="ECECEC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6B6B6B"/>
                </a:solidFill>
                <a:latin typeface="Segoe UI"/>
              </a:defRPr>
            </a:pPr>
            <a:endParaRPr lang="pt-BR"/>
          </a:p>
        </c:txPr>
        <c:crossAx val="1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EC5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2A9-45A4-BC00-4A7FD910B716}"/>
              </c:ext>
            </c:extLst>
          </c:dPt>
          <c:dPt>
            <c:idx val="1"/>
            <c:invertIfNegative val="0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B1F-4F14-BB8A-94D6013A3C80}"/>
              </c:ext>
            </c:extLst>
          </c:dPt>
          <c:dPt>
            <c:idx val="2"/>
            <c:invertIfNegative val="0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B1F-4F14-BB8A-94D6013A3C80}"/>
              </c:ext>
            </c:extLst>
          </c:dPt>
          <c:dPt>
            <c:idx val="3"/>
            <c:invertIfNegative val="0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B1F-4F14-BB8A-94D6013A3C80}"/>
              </c:ext>
            </c:extLst>
          </c:dPt>
          <c:dLbls>
            <c:numFmt formatCode="&quot;−&quot;0.0&quot; p.p.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3232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5"/>
              <c:pt idx="0">
                <c:v>31+ days</c:v>
              </c:pt>
              <c:pt idx="1">
                <c:v>16–30 days</c:v>
              </c:pt>
              <c:pt idx="2">
                <c:v>8–15 days</c:v>
              </c:pt>
              <c:pt idx="3">
                <c:v>4–7 days</c:v>
              </c:pt>
              <c:pt idx="4">
                <c:v>1–3 days</c:v>
              </c:pt>
            </c:strLit>
          </c:cat>
          <c:val>
            <c:numLit>
              <c:formatCode>General</c:formatCode>
              <c:ptCount val="5"/>
              <c:pt idx="0">
                <c:v>7.3</c:v>
              </c:pt>
              <c:pt idx="1">
                <c:v>7.1</c:v>
              </c:pt>
              <c:pt idx="2">
                <c:v>5.7</c:v>
              </c:pt>
              <c:pt idx="3">
                <c:v>3.1</c:v>
              </c:pt>
              <c:pt idx="4">
                <c:v>1.7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2A9-45A4-BC00-4A7FD910B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32323"/>
                </a:solidFill>
                <a:latin typeface="Segoe UI"/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9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EC5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C0623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583-46EE-AECB-FD9FC0A0660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23.5%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44C-4DD7-B492-6135780CE5C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24.4%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44C-4DD7-B492-6135780CE5C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44C-4DD7-B492-6135780CE5C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44C-4DD7-B492-6135780CE5C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27.5%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44C-4DD7-B492-6135780CE5C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232323"/>
                        </a:solidFill>
                        <a:latin typeface="Segoe UI"/>
                      </a:rPr>
                      <a:t>28.9%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583-46EE-AECB-FD9FC0A06609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3232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6"/>
              <c:pt idx="0">
                <c:v>Ilha do Príncipe</c:v>
              </c:pt>
              <c:pt idx="1">
                <c:v>Jesus de Nazareth</c:v>
              </c:pt>
              <c:pt idx="2">
                <c:v>Itararé</c:v>
              </c:pt>
              <c:pt idx="3">
                <c:v>Santa Clara</c:v>
              </c:pt>
              <c:pt idx="4">
                <c:v>Santa Cecília</c:v>
              </c:pt>
              <c:pt idx="5">
                <c:v>Santos Dumont</c:v>
              </c:pt>
            </c:strLit>
          </c:cat>
          <c:val>
            <c:numLit>
              <c:formatCode>General</c:formatCode>
              <c:ptCount val="6"/>
              <c:pt idx="0">
                <c:v>23.5</c:v>
              </c:pt>
              <c:pt idx="1">
                <c:v>24.4</c:v>
              </c:pt>
              <c:pt idx="2">
                <c:v>26.3</c:v>
              </c:pt>
              <c:pt idx="3">
                <c:v>26.5</c:v>
              </c:pt>
              <c:pt idx="4">
                <c:v>27.5</c:v>
              </c:pt>
              <c:pt idx="5">
                <c:v>28.9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583-46EE-AECB-FD9FC0A06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8C8C8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32323"/>
                </a:solidFill>
                <a:latin typeface="Segoe UI"/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4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FEF9-5CA4-8B66-AD10-C8B04D5AA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90255E-3368-C305-E40C-769D5B94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BB3AE9-37D2-CB3A-4120-F1EC4472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C12294A-1B9A-EA62-D3D3-FB481D0A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3FABBBE-E7E1-659B-29CD-60749E29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6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C24D-DF24-85A3-CA0C-A7DA80D8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56B049-5B9C-CF00-7774-5DD38800E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EB43053-AB58-6C8E-9ECB-ED165C5F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E3F43F-9135-EC0D-FF7F-D8D2EBB7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37F089-AC40-50D0-A2AB-039AD301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508A0-4404-E538-89DB-B5A31FA5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B5CF9D-20A0-429B-D39C-06278A02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C4BE30-8549-A30A-B32E-946DBBA6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84210C-10CE-DDD8-18C9-65B36EEA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F8D211-CBF5-9CF6-DCDE-CE3B4128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2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78F68-484A-B5C0-DCD7-9320A14E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DD78957-6931-7707-04FF-C9855718D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7A431E2-5E0F-4C94-55AB-2EE5BD72E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29732C4-77BC-5252-3E50-F5DCC5FD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7828592-8804-90BC-30A4-EA9B2762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30D82A2-534B-CD94-0707-96BE871A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4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CBCAA-77E4-7B55-5FCB-355ED479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983C25-885E-8FF0-E752-194373F0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DC749F1-3DDA-0523-789F-E719B4EDF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AA473F7-CCA9-4855-753F-A10FDB26C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C6F41E2-EEA3-4034-DABB-F73BF9EAE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BC23E10-B26A-0DAD-331D-F8AA01AA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F98F9B2-5E8F-BE25-3E72-2734D3F3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B8F221A-0569-D556-D1AB-196E9D76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54A12-EF5F-3930-7743-E4F28F78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2CD56ED-D4C5-70D0-D894-D0A7E79A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E9E9CF4-AAB1-B1F2-F9C5-D8F494EE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68A88EC-F5B6-E4B2-1FA5-C76E6A6D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5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1D93C5D-2D08-1D0C-693A-90F6A4F9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E6C9D51-A6CB-58FB-5EAC-DE2C7152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F77D62-6E80-7A41-74B0-AA89EC8B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9899B-4769-5561-749A-B5D336EF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BC4554-8713-A55C-D7CE-E599A546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9E7404B-0DED-4C43-329A-49CA48A0A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C0B5377-ECE3-F20C-BE51-B537BF2C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3DEDB7-ECCD-48C3-5E81-E6C0B6E5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26A533-A97D-6341-36D7-E2265545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275B-A2AF-6344-81EA-57D48B69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8269C81-A3BA-1105-6D43-E236E2B16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164B324-DB08-C042-CCA4-C5073D54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E06AD05-DADE-D5E6-6764-4940BB48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3E10246-14BA-CDEB-DF2F-2EC6C5EA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C8DEF0-211D-0FE9-1B43-93DA32B8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0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3511A-12E2-ECA0-D31D-44E834B8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E87CED2-99BF-DD5A-472A-97C5E1C54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5FAD09-A965-1346-510A-7F1462E7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3B5AC9-1195-60EE-8EF7-F3B91BD7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EE371C-DACD-B190-C324-F3CB119B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937EA4-6F20-6E57-A23A-32FBFB0B8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1DC1B9F-84F4-7E55-AF2E-CD0DFAB5E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00D79C-7D39-C6DF-FD23-69A7CBB7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8114F8-6C38-51EC-A4BB-C0696937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11917F-F956-C9B1-C461-6F050AC6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91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FEF9-5CA4-8B66-AD10-C8B04D5AA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90255E-3368-C305-E40C-769D5B94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BB3AE9-37D2-CB3A-4120-F1EC4472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C12294A-1B9A-EA62-D3D3-FB481D0A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3FABBBE-E7E1-659B-29CD-60749E29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61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C24D-DF24-85A3-CA0C-A7DA80D8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56B049-5B9C-CF00-7774-5DD38800E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EB43053-AB58-6C8E-9ECB-ED165C5F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E3F43F-9135-EC0D-FF7F-D8D2EBB7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37F089-AC40-50D0-A2AB-039AD301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6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508A0-4404-E538-89DB-B5A31FA5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B5CF9D-20A0-429B-D39C-06278A02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C4BE30-8549-A30A-B32E-946DBBA6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84210C-10CE-DDD8-18C9-65B36EEA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F8D211-CBF5-9CF6-DCDE-CE3B4128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2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78F68-484A-B5C0-DCD7-9320A14E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DD78957-6931-7707-04FF-C9855718D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7A431E2-5E0F-4C94-55AB-2EE5BD72E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29732C4-77BC-5252-3E50-F5DCC5FD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7828592-8804-90BC-30A4-EA9B2762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30D82A2-534B-CD94-0707-96BE871A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46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CBCAA-77E4-7B55-5FCB-355ED479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983C25-885E-8FF0-E752-194373F0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DC749F1-3DDA-0523-789F-E719B4EDF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AA473F7-CCA9-4855-753F-A10FDB26C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C6F41E2-EEA3-4034-DABB-F73BF9EAE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BC23E10-B26A-0DAD-331D-F8AA01AA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F98F9B2-5E8F-BE25-3E72-2734D3F3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B8F221A-0569-D556-D1AB-196E9D76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7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54A12-EF5F-3930-7743-E4F28F78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2CD56ED-D4C5-70D0-D894-D0A7E79A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E9E9CF4-AAB1-B1F2-F9C5-D8F494EE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68A88EC-F5B6-E4B2-1FA5-C76E6A6D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56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1D93C5D-2D08-1D0C-693A-90F6A4F9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E6C9D51-A6CB-58FB-5EAC-DE2C7152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F77D62-6E80-7A41-74B0-AA89EC8B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7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9899B-4769-5561-749A-B5D336EF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FBC4554-8713-A55C-D7CE-E599A546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9E7404B-0DED-4C43-329A-49CA48A0A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C0B5377-ECE3-F20C-BE51-B537BF2C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3DEDB7-ECCD-48C3-5E81-E6C0B6E5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26A533-A97D-6341-36D7-E2265545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5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275B-A2AF-6344-81EA-57D48B69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8269C81-A3BA-1105-6D43-E236E2B16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164B324-DB08-C042-CCA4-C5073D54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E06AD05-DADE-D5E6-6764-4940BB48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3E10246-14BA-CDEB-DF2F-2EC6C5EA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C8DEF0-211D-0FE9-1B43-93DA32B8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050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3511A-12E2-ECA0-D31D-44E834B8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E87CED2-99BF-DD5A-472A-97C5E1C54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5FAD09-A965-1346-510A-7F1462E7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3B5AC9-1195-60EE-8EF7-F3B91BD7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EE371C-DACD-B190-C324-F3CB119B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2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937EA4-6F20-6E57-A23A-32FBFB0B8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1DC1B9F-84F4-7E55-AF2E-CD0DFAB5E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00D79C-7D39-C6DF-FD23-69A7CBB7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8114F8-6C38-51EC-A4BB-C0696937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11917F-F956-C9B1-C461-6F050AC6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9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CF29630-CDF4-3D8F-5F03-58A14E3D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60CCB73-424E-C499-323C-2F462D456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A2A3B5-9CE1-2E33-FB49-78908485C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DDFC4A-7424-6185-22F0-1880300EE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B5A0FFC-1981-0F61-969D-1E2A0A22C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CF29630-CDF4-3D8F-5F03-58A14E3D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60CCB73-424E-C499-323C-2F462D456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A2A3B5-9CE1-2E33-FB49-78908485C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8769B-9148-4D41-A10D-6F112368349F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DDFC4A-7424-6185-22F0-1880300EE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B5A0FFC-1981-0F61-969D-1E2A0A22C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CE19-814B-4D1C-B28A-3B6F4B97A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jdliGvxZWKr0gjycsTFUkPSp_mhGkEA/edit?usp=sharing&amp;ouid=107408539045921848652&amp;rtpof=true&amp;sd=true" TargetMode="External"/><Relationship Id="rId2" Type="http://schemas.openxmlformats.org/officeDocument/2006/relationships/hyperlink" Target="https://github.com/wiwirodrigues/healthcare-appointment-no-show-analysi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pp.powerbi.com/view?r=eyJrIjoiNGRlYTU5ZTktZDUzMy00OTg0LThhNTktOTYzZmVjMzc5MTAyIiwidCI6Ijk1NDYxM2ZhLWUzN2UtNDZkNi04NGYxLTJmYjNmMzY3MjExMyJ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711200" y="762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11684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400" dirty="0">
                <a:solidFill>
                  <a:srgbClr val="BDBDBD"/>
                </a:solidFill>
                <a:latin typeface="Segoe UI"/>
              </a:rPr>
              <a:t>NO-SHOW ANALYSIS</a:t>
            </a:r>
          </a:p>
        </p:txBody>
      </p:sp>
      <p:sp>
        <p:nvSpPr>
          <p:cNvPr id="13" name="Title"/>
          <p:cNvSpPr/>
          <p:nvPr/>
        </p:nvSpPr>
        <p:spPr>
          <a:xfrm>
            <a:off x="711200" y="1905000"/>
            <a:ext cx="6350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Georgia"/>
              </a:rPr>
              <a:t>How to reduce no-shows to medical appointments</a:t>
            </a:r>
          </a:p>
        </p:txBody>
      </p:sp>
      <p:sp>
        <p:nvSpPr>
          <p:cNvPr id="14" name="Subtitle"/>
          <p:cNvSpPr/>
          <p:nvPr/>
        </p:nvSpPr>
        <p:spPr>
          <a:xfrm>
            <a:off x="711200" y="4292600"/>
            <a:ext cx="596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BDBDBD"/>
                </a:solidFill>
                <a:latin typeface="Segoe UI"/>
              </a:rPr>
              <a:t>Diagnosis of the factors associated with no-shows and recommendation of an SMS pilot with active confirmation</a:t>
            </a:r>
          </a:p>
        </p:txBody>
      </p:sp>
      <p:sp>
        <p:nvSpPr>
          <p:cNvPr id="15" name="Meta rule"/>
          <p:cNvSpPr/>
          <p:nvPr/>
        </p:nvSpPr>
        <p:spPr>
          <a:xfrm>
            <a:off x="711200" y="5791200"/>
            <a:ext cx="12700" cy="50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Meta"/>
          <p:cNvSpPr/>
          <p:nvPr/>
        </p:nvSpPr>
        <p:spPr>
          <a:xfrm>
            <a:off x="889000" y="57912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Executive presentation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A8A8A8"/>
                </a:solidFill>
                <a:latin typeface="Segoe UI"/>
              </a:rPr>
              <a:t>2016 historical data  ·  110,521 appointments</a:t>
            </a:r>
          </a:p>
        </p:txBody>
      </p:sp>
      <p:sp>
        <p:nvSpPr>
          <p:cNvPr id="17" name="Dot 0"/>
          <p:cNvSpPr/>
          <p:nvPr/>
        </p:nvSpPr>
        <p:spPr>
          <a:xfrm>
            <a:off x="77470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Dot 1"/>
          <p:cNvSpPr/>
          <p:nvPr/>
        </p:nvSpPr>
        <p:spPr>
          <a:xfrm>
            <a:off x="81153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Dot 2"/>
          <p:cNvSpPr/>
          <p:nvPr/>
        </p:nvSpPr>
        <p:spPr>
          <a:xfrm>
            <a:off x="84836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0" name="Dot 3"/>
          <p:cNvSpPr/>
          <p:nvPr/>
        </p:nvSpPr>
        <p:spPr>
          <a:xfrm>
            <a:off x="88519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Dot 4"/>
          <p:cNvSpPr/>
          <p:nvPr/>
        </p:nvSpPr>
        <p:spPr>
          <a:xfrm>
            <a:off x="92202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Dot 5"/>
          <p:cNvSpPr/>
          <p:nvPr/>
        </p:nvSpPr>
        <p:spPr>
          <a:xfrm>
            <a:off x="95885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Dot 6"/>
          <p:cNvSpPr/>
          <p:nvPr/>
        </p:nvSpPr>
        <p:spPr>
          <a:xfrm>
            <a:off x="99568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Dot 7"/>
          <p:cNvSpPr/>
          <p:nvPr/>
        </p:nvSpPr>
        <p:spPr>
          <a:xfrm>
            <a:off x="103251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Dot 8"/>
          <p:cNvSpPr/>
          <p:nvPr/>
        </p:nvSpPr>
        <p:spPr>
          <a:xfrm>
            <a:off x="106934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Dot 9"/>
          <p:cNvSpPr/>
          <p:nvPr/>
        </p:nvSpPr>
        <p:spPr>
          <a:xfrm>
            <a:off x="11061700" y="11430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Dot 10"/>
          <p:cNvSpPr/>
          <p:nvPr/>
        </p:nvSpPr>
        <p:spPr>
          <a:xfrm>
            <a:off x="77470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Dot 11"/>
          <p:cNvSpPr/>
          <p:nvPr/>
        </p:nvSpPr>
        <p:spPr>
          <a:xfrm>
            <a:off x="81153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9" name="Dot 12"/>
          <p:cNvSpPr/>
          <p:nvPr/>
        </p:nvSpPr>
        <p:spPr>
          <a:xfrm>
            <a:off x="84836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Dot 13"/>
          <p:cNvSpPr/>
          <p:nvPr/>
        </p:nvSpPr>
        <p:spPr>
          <a:xfrm>
            <a:off x="88519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Dot 14"/>
          <p:cNvSpPr/>
          <p:nvPr/>
        </p:nvSpPr>
        <p:spPr>
          <a:xfrm>
            <a:off x="92202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Dot 15"/>
          <p:cNvSpPr/>
          <p:nvPr/>
        </p:nvSpPr>
        <p:spPr>
          <a:xfrm>
            <a:off x="95885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" name="Dot 16"/>
          <p:cNvSpPr/>
          <p:nvPr/>
        </p:nvSpPr>
        <p:spPr>
          <a:xfrm>
            <a:off x="99568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Dot 17"/>
          <p:cNvSpPr/>
          <p:nvPr/>
        </p:nvSpPr>
        <p:spPr>
          <a:xfrm>
            <a:off x="103251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Dot 18"/>
          <p:cNvSpPr/>
          <p:nvPr/>
        </p:nvSpPr>
        <p:spPr>
          <a:xfrm>
            <a:off x="106934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Dot 19"/>
          <p:cNvSpPr/>
          <p:nvPr/>
        </p:nvSpPr>
        <p:spPr>
          <a:xfrm>
            <a:off x="11061700" y="15113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7" name="Dot 20"/>
          <p:cNvSpPr/>
          <p:nvPr/>
        </p:nvSpPr>
        <p:spPr>
          <a:xfrm>
            <a:off x="77470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8" name="Dot 21"/>
          <p:cNvSpPr/>
          <p:nvPr/>
        </p:nvSpPr>
        <p:spPr>
          <a:xfrm>
            <a:off x="81153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Dot 22"/>
          <p:cNvSpPr/>
          <p:nvPr/>
        </p:nvSpPr>
        <p:spPr>
          <a:xfrm>
            <a:off x="84836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0" name="Dot 23"/>
          <p:cNvSpPr/>
          <p:nvPr/>
        </p:nvSpPr>
        <p:spPr>
          <a:xfrm>
            <a:off x="88519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1" name="Dot 24"/>
          <p:cNvSpPr/>
          <p:nvPr/>
        </p:nvSpPr>
        <p:spPr>
          <a:xfrm>
            <a:off x="92202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2" name="Dot 25"/>
          <p:cNvSpPr/>
          <p:nvPr/>
        </p:nvSpPr>
        <p:spPr>
          <a:xfrm>
            <a:off x="95885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3" name="Dot 26"/>
          <p:cNvSpPr/>
          <p:nvPr/>
        </p:nvSpPr>
        <p:spPr>
          <a:xfrm>
            <a:off x="99568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4" name="Dot 27"/>
          <p:cNvSpPr/>
          <p:nvPr/>
        </p:nvSpPr>
        <p:spPr>
          <a:xfrm>
            <a:off x="103251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5" name="Dot 28"/>
          <p:cNvSpPr/>
          <p:nvPr/>
        </p:nvSpPr>
        <p:spPr>
          <a:xfrm>
            <a:off x="106934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6" name="Dot 29"/>
          <p:cNvSpPr/>
          <p:nvPr/>
        </p:nvSpPr>
        <p:spPr>
          <a:xfrm>
            <a:off x="11061700" y="18796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7" name="Dot 30"/>
          <p:cNvSpPr/>
          <p:nvPr/>
        </p:nvSpPr>
        <p:spPr>
          <a:xfrm>
            <a:off x="77470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8" name="Dot 31"/>
          <p:cNvSpPr/>
          <p:nvPr/>
        </p:nvSpPr>
        <p:spPr>
          <a:xfrm>
            <a:off x="81153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9" name="Dot 32"/>
          <p:cNvSpPr/>
          <p:nvPr/>
        </p:nvSpPr>
        <p:spPr>
          <a:xfrm>
            <a:off x="84836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0" name="Dot 33"/>
          <p:cNvSpPr/>
          <p:nvPr/>
        </p:nvSpPr>
        <p:spPr>
          <a:xfrm>
            <a:off x="88519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1" name="Dot 34"/>
          <p:cNvSpPr/>
          <p:nvPr/>
        </p:nvSpPr>
        <p:spPr>
          <a:xfrm>
            <a:off x="92202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2" name="Dot 35"/>
          <p:cNvSpPr/>
          <p:nvPr/>
        </p:nvSpPr>
        <p:spPr>
          <a:xfrm>
            <a:off x="95885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3" name="Dot 36"/>
          <p:cNvSpPr/>
          <p:nvPr/>
        </p:nvSpPr>
        <p:spPr>
          <a:xfrm>
            <a:off x="99568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4" name="Dot 37"/>
          <p:cNvSpPr/>
          <p:nvPr/>
        </p:nvSpPr>
        <p:spPr>
          <a:xfrm>
            <a:off x="103251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5" name="Dot 38"/>
          <p:cNvSpPr/>
          <p:nvPr/>
        </p:nvSpPr>
        <p:spPr>
          <a:xfrm>
            <a:off x="106934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6" name="Dot 39"/>
          <p:cNvSpPr/>
          <p:nvPr/>
        </p:nvSpPr>
        <p:spPr>
          <a:xfrm>
            <a:off x="11061700" y="22479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7" name="Dot 40"/>
          <p:cNvSpPr/>
          <p:nvPr/>
        </p:nvSpPr>
        <p:spPr>
          <a:xfrm>
            <a:off x="77470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8" name="Dot 41"/>
          <p:cNvSpPr/>
          <p:nvPr/>
        </p:nvSpPr>
        <p:spPr>
          <a:xfrm>
            <a:off x="81153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9" name="Dot 42"/>
          <p:cNvSpPr/>
          <p:nvPr/>
        </p:nvSpPr>
        <p:spPr>
          <a:xfrm>
            <a:off x="84836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0" name="Dot 43"/>
          <p:cNvSpPr/>
          <p:nvPr/>
        </p:nvSpPr>
        <p:spPr>
          <a:xfrm>
            <a:off x="88519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1" name="Dot 44"/>
          <p:cNvSpPr/>
          <p:nvPr/>
        </p:nvSpPr>
        <p:spPr>
          <a:xfrm>
            <a:off x="92202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2" name="Dot 45"/>
          <p:cNvSpPr/>
          <p:nvPr/>
        </p:nvSpPr>
        <p:spPr>
          <a:xfrm>
            <a:off x="95885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3" name="Dot 46"/>
          <p:cNvSpPr/>
          <p:nvPr/>
        </p:nvSpPr>
        <p:spPr>
          <a:xfrm>
            <a:off x="99568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4" name="Dot 47"/>
          <p:cNvSpPr/>
          <p:nvPr/>
        </p:nvSpPr>
        <p:spPr>
          <a:xfrm>
            <a:off x="103251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5" name="Dot 48"/>
          <p:cNvSpPr/>
          <p:nvPr/>
        </p:nvSpPr>
        <p:spPr>
          <a:xfrm>
            <a:off x="106934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6" name="Dot 49"/>
          <p:cNvSpPr/>
          <p:nvPr/>
        </p:nvSpPr>
        <p:spPr>
          <a:xfrm>
            <a:off x="11061700" y="26162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7" name="Dot 50"/>
          <p:cNvSpPr/>
          <p:nvPr/>
        </p:nvSpPr>
        <p:spPr>
          <a:xfrm>
            <a:off x="77470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8" name="Dot 51"/>
          <p:cNvSpPr/>
          <p:nvPr/>
        </p:nvSpPr>
        <p:spPr>
          <a:xfrm>
            <a:off x="81153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9" name="Dot 52"/>
          <p:cNvSpPr/>
          <p:nvPr/>
        </p:nvSpPr>
        <p:spPr>
          <a:xfrm>
            <a:off x="84836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0" name="Dot 53"/>
          <p:cNvSpPr/>
          <p:nvPr/>
        </p:nvSpPr>
        <p:spPr>
          <a:xfrm>
            <a:off x="88519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1" name="Dot 54"/>
          <p:cNvSpPr/>
          <p:nvPr/>
        </p:nvSpPr>
        <p:spPr>
          <a:xfrm>
            <a:off x="92202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2" name="Dot 55"/>
          <p:cNvSpPr/>
          <p:nvPr/>
        </p:nvSpPr>
        <p:spPr>
          <a:xfrm>
            <a:off x="95885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3" name="Dot 56"/>
          <p:cNvSpPr/>
          <p:nvPr/>
        </p:nvSpPr>
        <p:spPr>
          <a:xfrm>
            <a:off x="99568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4" name="Dot 57"/>
          <p:cNvSpPr/>
          <p:nvPr/>
        </p:nvSpPr>
        <p:spPr>
          <a:xfrm>
            <a:off x="103251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5" name="Dot 58"/>
          <p:cNvSpPr/>
          <p:nvPr/>
        </p:nvSpPr>
        <p:spPr>
          <a:xfrm>
            <a:off x="106934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6" name="Dot 59"/>
          <p:cNvSpPr/>
          <p:nvPr/>
        </p:nvSpPr>
        <p:spPr>
          <a:xfrm>
            <a:off x="11061700" y="29845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7" name="Dot 60"/>
          <p:cNvSpPr/>
          <p:nvPr/>
        </p:nvSpPr>
        <p:spPr>
          <a:xfrm>
            <a:off x="77470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8" name="Dot 61"/>
          <p:cNvSpPr/>
          <p:nvPr/>
        </p:nvSpPr>
        <p:spPr>
          <a:xfrm>
            <a:off x="81153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9" name="Dot 62"/>
          <p:cNvSpPr/>
          <p:nvPr/>
        </p:nvSpPr>
        <p:spPr>
          <a:xfrm>
            <a:off x="84836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0" name="Dot 63"/>
          <p:cNvSpPr/>
          <p:nvPr/>
        </p:nvSpPr>
        <p:spPr>
          <a:xfrm>
            <a:off x="88519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1" name="Dot 64"/>
          <p:cNvSpPr/>
          <p:nvPr/>
        </p:nvSpPr>
        <p:spPr>
          <a:xfrm>
            <a:off x="92202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2" name="Dot 65"/>
          <p:cNvSpPr/>
          <p:nvPr/>
        </p:nvSpPr>
        <p:spPr>
          <a:xfrm>
            <a:off x="95885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3" name="Dot 66"/>
          <p:cNvSpPr/>
          <p:nvPr/>
        </p:nvSpPr>
        <p:spPr>
          <a:xfrm>
            <a:off x="99568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4" name="Dot 67"/>
          <p:cNvSpPr/>
          <p:nvPr/>
        </p:nvSpPr>
        <p:spPr>
          <a:xfrm>
            <a:off x="103251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5" name="Dot 68"/>
          <p:cNvSpPr/>
          <p:nvPr/>
        </p:nvSpPr>
        <p:spPr>
          <a:xfrm>
            <a:off x="106934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6" name="Dot 69"/>
          <p:cNvSpPr/>
          <p:nvPr/>
        </p:nvSpPr>
        <p:spPr>
          <a:xfrm>
            <a:off x="11061700" y="33528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7" name="Dot 70"/>
          <p:cNvSpPr/>
          <p:nvPr/>
        </p:nvSpPr>
        <p:spPr>
          <a:xfrm>
            <a:off x="77470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8" name="Dot 71"/>
          <p:cNvSpPr/>
          <p:nvPr/>
        </p:nvSpPr>
        <p:spPr>
          <a:xfrm>
            <a:off x="81153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89" name="Dot 72"/>
          <p:cNvSpPr/>
          <p:nvPr/>
        </p:nvSpPr>
        <p:spPr>
          <a:xfrm>
            <a:off x="84836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0" name="Dot 73"/>
          <p:cNvSpPr/>
          <p:nvPr/>
        </p:nvSpPr>
        <p:spPr>
          <a:xfrm>
            <a:off x="88519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1" name="Dot 74"/>
          <p:cNvSpPr/>
          <p:nvPr/>
        </p:nvSpPr>
        <p:spPr>
          <a:xfrm>
            <a:off x="92202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2" name="Dot 75"/>
          <p:cNvSpPr/>
          <p:nvPr/>
        </p:nvSpPr>
        <p:spPr>
          <a:xfrm>
            <a:off x="95885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3" name="Dot 76"/>
          <p:cNvSpPr/>
          <p:nvPr/>
        </p:nvSpPr>
        <p:spPr>
          <a:xfrm>
            <a:off x="99568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4" name="Dot 77"/>
          <p:cNvSpPr/>
          <p:nvPr/>
        </p:nvSpPr>
        <p:spPr>
          <a:xfrm>
            <a:off x="103251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5" name="Dot 78"/>
          <p:cNvSpPr/>
          <p:nvPr/>
        </p:nvSpPr>
        <p:spPr>
          <a:xfrm>
            <a:off x="106934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6" name="Dot 79"/>
          <p:cNvSpPr/>
          <p:nvPr/>
        </p:nvSpPr>
        <p:spPr>
          <a:xfrm>
            <a:off x="11061700" y="3721100"/>
            <a:ext cx="215900" cy="215900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7" name="Dot 80"/>
          <p:cNvSpPr/>
          <p:nvPr/>
        </p:nvSpPr>
        <p:spPr>
          <a:xfrm>
            <a:off x="77470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8" name="Dot 81"/>
          <p:cNvSpPr/>
          <p:nvPr/>
        </p:nvSpPr>
        <p:spPr>
          <a:xfrm>
            <a:off x="81153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9" name="Dot 82"/>
          <p:cNvSpPr/>
          <p:nvPr/>
        </p:nvSpPr>
        <p:spPr>
          <a:xfrm>
            <a:off x="84836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0" name="Dot 83"/>
          <p:cNvSpPr/>
          <p:nvPr/>
        </p:nvSpPr>
        <p:spPr>
          <a:xfrm>
            <a:off x="88519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Dot 84"/>
          <p:cNvSpPr/>
          <p:nvPr/>
        </p:nvSpPr>
        <p:spPr>
          <a:xfrm>
            <a:off x="92202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2" name="Dot 85"/>
          <p:cNvSpPr/>
          <p:nvPr/>
        </p:nvSpPr>
        <p:spPr>
          <a:xfrm>
            <a:off x="95885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3" name="Dot 86"/>
          <p:cNvSpPr/>
          <p:nvPr/>
        </p:nvSpPr>
        <p:spPr>
          <a:xfrm>
            <a:off x="99568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4" name="Dot 87"/>
          <p:cNvSpPr/>
          <p:nvPr/>
        </p:nvSpPr>
        <p:spPr>
          <a:xfrm>
            <a:off x="103251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5" name="Dot 88"/>
          <p:cNvSpPr/>
          <p:nvPr/>
        </p:nvSpPr>
        <p:spPr>
          <a:xfrm>
            <a:off x="106934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6" name="Dot 89"/>
          <p:cNvSpPr/>
          <p:nvPr/>
        </p:nvSpPr>
        <p:spPr>
          <a:xfrm>
            <a:off x="11061700" y="40894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7" name="Dot 90"/>
          <p:cNvSpPr/>
          <p:nvPr/>
        </p:nvSpPr>
        <p:spPr>
          <a:xfrm>
            <a:off x="77470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8" name="Dot 91"/>
          <p:cNvSpPr/>
          <p:nvPr/>
        </p:nvSpPr>
        <p:spPr>
          <a:xfrm>
            <a:off x="81153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9" name="Dot 92"/>
          <p:cNvSpPr/>
          <p:nvPr/>
        </p:nvSpPr>
        <p:spPr>
          <a:xfrm>
            <a:off x="84836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0" name="Dot 93"/>
          <p:cNvSpPr/>
          <p:nvPr/>
        </p:nvSpPr>
        <p:spPr>
          <a:xfrm>
            <a:off x="88519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1" name="Dot 94"/>
          <p:cNvSpPr/>
          <p:nvPr/>
        </p:nvSpPr>
        <p:spPr>
          <a:xfrm>
            <a:off x="92202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2" name="Dot 95"/>
          <p:cNvSpPr/>
          <p:nvPr/>
        </p:nvSpPr>
        <p:spPr>
          <a:xfrm>
            <a:off x="95885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3" name="Dot 96"/>
          <p:cNvSpPr/>
          <p:nvPr/>
        </p:nvSpPr>
        <p:spPr>
          <a:xfrm>
            <a:off x="99568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4" name="Dot 97"/>
          <p:cNvSpPr/>
          <p:nvPr/>
        </p:nvSpPr>
        <p:spPr>
          <a:xfrm>
            <a:off x="103251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5" name="Dot 98"/>
          <p:cNvSpPr/>
          <p:nvPr/>
        </p:nvSpPr>
        <p:spPr>
          <a:xfrm>
            <a:off x="106934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6" name="Dot 99"/>
          <p:cNvSpPr/>
          <p:nvPr/>
        </p:nvSpPr>
        <p:spPr>
          <a:xfrm>
            <a:off x="11061700" y="4457700"/>
            <a:ext cx="215900" cy="215900"/>
          </a:xfrm>
          <a:prstGeom prst="ellipse">
            <a:avLst/>
          </a:prstGeom>
          <a:solidFill>
            <a:srgbClr val="E07A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7" name="Grid caption"/>
          <p:cNvSpPr/>
          <p:nvPr/>
        </p:nvSpPr>
        <p:spPr>
          <a:xfrm>
            <a:off x="7747000" y="49784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E07A4F"/>
                </a:solidFill>
                <a:latin typeface="Georgia"/>
              </a:rPr>
              <a:t>20.2%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BDBDBD"/>
                </a:solidFill>
                <a:latin typeface="Segoe UI"/>
              </a:rPr>
              <a:t>of appointments ended in a no-show: 1 in 5</a:t>
            </a:r>
          </a:p>
        </p:txBody>
      </p:sp>
    </p:spTree>
    <p:extLst>
      <p:ext uri="{BB962C8B-B14F-4D97-AF65-F5344CB8AC3E}">
        <p14:creationId xmlns:p14="http://schemas.microsoft.com/office/powerpoint/2010/main" val="147235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panel"/>
          <p:cNvSpPr/>
          <p:nvPr/>
        </p:nvSpPr>
        <p:spPr>
          <a:xfrm>
            <a:off x="0" y="0"/>
            <a:ext cx="4013200" cy="685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12" name="Eyebrow bar"/>
          <p:cNvSpPr/>
          <p:nvPr/>
        </p:nvSpPr>
        <p:spPr>
          <a:xfrm>
            <a:off x="457200" y="4572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" name="Eyebrow"/>
          <p:cNvSpPr/>
          <p:nvPr/>
        </p:nvSpPr>
        <p:spPr>
          <a:xfrm>
            <a:off x="914400" y="3556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BDBDBD"/>
                </a:solidFill>
                <a:latin typeface="Segoe UI"/>
              </a:rPr>
              <a:t>NO-SHOW ANALYSIS</a:t>
            </a:r>
          </a:p>
        </p:txBody>
      </p:sp>
      <p:sp>
        <p:nvSpPr>
          <p:cNvPr id="14" name="Title"/>
          <p:cNvSpPr/>
          <p:nvPr/>
        </p:nvSpPr>
        <p:spPr>
          <a:xfrm>
            <a:off x="457200" y="762000"/>
            <a:ext cx="309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Lead time drives no-shows; reminders can help</a:t>
            </a:r>
          </a:p>
        </p:txBody>
      </p:sp>
      <p:cxnSp>
        <p:nvCxnSpPr>
          <p:cNvPr id="15" name="Line 15"/>
          <p:cNvCxnSpPr>
            <a:cxnSpLocks/>
          </p:cNvCxnSpPr>
          <p:nvPr/>
        </p:nvCxnSpPr>
        <p:spPr>
          <a:xfrm>
            <a:off x="457200" y="2768600"/>
            <a:ext cx="3098800" cy="0"/>
          </a:xfrm>
          <a:prstGeom prst="line">
            <a:avLst/>
          </a:prstGeom>
          <a:ln w="9525">
            <a:solidFill>
              <a:srgbClr val="4A4A4A"/>
            </a:solidFill>
          </a:ln>
        </p:spPr>
      </p:cxnSp>
      <p:sp>
        <p:nvSpPr>
          <p:cNvPr id="16" name="Problem label"/>
          <p:cNvSpPr/>
          <p:nvPr/>
        </p:nvSpPr>
        <p:spPr>
          <a:xfrm>
            <a:off x="457200" y="29464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PROBLEM</a:t>
            </a:r>
          </a:p>
        </p:txBody>
      </p:sp>
      <p:sp>
        <p:nvSpPr>
          <p:cNvPr id="17" name="Problem number"/>
          <p:cNvSpPr/>
          <p:nvPr/>
        </p:nvSpPr>
        <p:spPr>
          <a:xfrm>
            <a:off x="457200" y="3454400"/>
            <a:ext cx="3098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1" dirty="0">
                <a:solidFill>
                  <a:srgbClr val="E07A4F"/>
                </a:solidFill>
                <a:latin typeface="Georgia"/>
              </a:rPr>
              <a:t>20.2%</a:t>
            </a:r>
          </a:p>
        </p:txBody>
      </p:sp>
      <p:sp>
        <p:nvSpPr>
          <p:cNvPr id="18" name="Problem text"/>
          <p:cNvSpPr/>
          <p:nvPr/>
        </p:nvSpPr>
        <p:spPr>
          <a:xfrm>
            <a:off x="457200" y="45212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E6E6E6"/>
                </a:solidFill>
                <a:latin typeface="Segoe UI"/>
              </a:rPr>
              <a:t>The historical dataset showed a no-show rate of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20.2%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, representing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22,314 no-shows out of 110,521 valid appointments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.</a:t>
            </a:r>
          </a:p>
        </p:txBody>
      </p:sp>
      <p:sp>
        <p:nvSpPr>
          <p:cNvPr id="19" name="Findings label"/>
          <p:cNvSpPr/>
          <p:nvPr/>
        </p:nvSpPr>
        <p:spPr>
          <a:xfrm>
            <a:off x="4470400" y="381000"/>
            <a:ext cx="726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6B6B6B"/>
                </a:solidFill>
                <a:latin typeface="Segoe UI"/>
              </a:rPr>
              <a:t>KEY FINDINGS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4470400" y="7366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1" name="Metric 1"/>
          <p:cNvSpPr/>
          <p:nvPr/>
        </p:nvSpPr>
        <p:spPr>
          <a:xfrm>
            <a:off x="4470400" y="889000"/>
            <a:ext cx="238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623A"/>
                </a:solidFill>
                <a:latin typeface="Georgia"/>
              </a:rPr>
              <a:t>4.6% → 33.0%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same day → 31+ days</a:t>
            </a:r>
          </a:p>
        </p:txBody>
      </p:sp>
      <p:sp>
        <p:nvSpPr>
          <p:cNvPr id="22" name="Finding 1"/>
          <p:cNvSpPr/>
          <p:nvPr/>
        </p:nvSpPr>
        <p:spPr>
          <a:xfrm>
            <a:off x="7061200" y="8636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Lead time: 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the no-show rate ranged from 4.6% for same-day appointments to 33.0% for appointments booked 31 or more days ahead.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4470400" y="18288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4" name="Metric 2"/>
          <p:cNvSpPr/>
          <p:nvPr/>
        </p:nvSpPr>
        <p:spPr>
          <a:xfrm>
            <a:off x="4470400" y="1981200"/>
            <a:ext cx="238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623A"/>
                </a:solidFill>
                <a:latin typeface="Georgia"/>
              </a:rPr>
              <a:t>SMS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4+ day groups</a:t>
            </a:r>
          </a:p>
        </p:txBody>
      </p:sp>
      <p:sp>
        <p:nvSpPr>
          <p:cNvPr id="25" name="Finding 2"/>
          <p:cNvSpPr/>
          <p:nvPr/>
        </p:nvSpPr>
        <p:spPr>
          <a:xfrm>
            <a:off x="7061200" y="19558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SMS: 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within comparable lead-time groups, appointments with an SMS had lower no-show rates in groups of four days or more.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4470400" y="29210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7" name="Metric 3"/>
          <p:cNvSpPr/>
          <p:nvPr/>
        </p:nvSpPr>
        <p:spPr>
          <a:xfrm>
            <a:off x="4470400" y="3073400"/>
            <a:ext cx="2387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623A"/>
                </a:solidFill>
                <a:latin typeface="Georgia"/>
              </a:rPr>
              <a:t>26.9% vs 18.8%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with vs without prior no-show</a:t>
            </a:r>
          </a:p>
        </p:txBody>
      </p:sp>
      <p:sp>
        <p:nvSpPr>
          <p:cNvPr id="28" name="Finding 3"/>
          <p:cNvSpPr/>
          <p:nvPr/>
        </p:nvSpPr>
        <p:spPr>
          <a:xfrm>
            <a:off x="7061200" y="30480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No-show history: 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patients with a recorded prior no-show had a rate of 26.9%, against 18.8% among returning patients with no prior no-show.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4470400" y="4013200"/>
            <a:ext cx="7264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0" name="Block Recomendação"/>
          <p:cNvSpPr/>
          <p:nvPr/>
        </p:nvSpPr>
        <p:spPr>
          <a:xfrm>
            <a:off x="4470400" y="4191000"/>
            <a:ext cx="3505200" cy="1803400"/>
          </a:xfrm>
          <a:prstGeom prst="rect">
            <a:avLst/>
          </a:prstGeom>
          <a:solidFill>
            <a:srgbClr val="FBF1D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Block bar 1"/>
          <p:cNvSpPr/>
          <p:nvPr/>
        </p:nvSpPr>
        <p:spPr>
          <a:xfrm>
            <a:off x="4470400" y="4191000"/>
            <a:ext cx="3505200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Block text 1"/>
          <p:cNvSpPr/>
          <p:nvPr/>
        </p:nvSpPr>
        <p:spPr>
          <a:xfrm>
            <a:off x="4673600" y="4394200"/>
            <a:ext cx="30988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A86F10"/>
                </a:solidFill>
                <a:latin typeface="Segoe UI"/>
              </a:rPr>
              <a:t>RECOMMENDATION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Test an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SMS process with active confirmation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allowing patients to confirm or cancel in advance, and assess how freed-up slots are reused.</a:t>
            </a:r>
          </a:p>
        </p:txBody>
      </p:sp>
      <p:sp>
        <p:nvSpPr>
          <p:cNvPr id="33" name="Block Próximo passo"/>
          <p:cNvSpPr/>
          <p:nvPr/>
        </p:nvSpPr>
        <p:spPr>
          <a:xfrm>
            <a:off x="8229600" y="4191000"/>
            <a:ext cx="3505200" cy="18034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Block bar 2"/>
          <p:cNvSpPr/>
          <p:nvPr/>
        </p:nvSpPr>
        <p:spPr>
          <a:xfrm>
            <a:off x="8229600" y="4191000"/>
            <a:ext cx="3505200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Block text 2"/>
          <p:cNvSpPr/>
          <p:nvPr/>
        </p:nvSpPr>
        <p:spPr>
          <a:xfrm>
            <a:off x="8432800" y="4394200"/>
            <a:ext cx="30988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NEXT STEP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Propose a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controlled pilot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to measure the effect on the no-show rate, slot utilization and the costs involved.</a:t>
            </a:r>
          </a:p>
        </p:txBody>
      </p:sp>
      <p:sp>
        <p:nvSpPr>
          <p:cNvPr id="36" name="Note"/>
          <p:cNvSpPr/>
          <p:nvPr/>
        </p:nvSpPr>
        <p:spPr>
          <a:xfrm>
            <a:off x="4470400" y="6172200"/>
            <a:ext cx="726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Note: the data are from 2016. The associations found do not prove causation, and the impact of the solution still needs to be tested.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20F58B3-D717-20C1-E523-B3E9BE13FDA5}"/>
              </a:ext>
            </a:extLst>
          </p:cNvPr>
          <p:cNvSpPr txBox="1"/>
          <p:nvPr/>
        </p:nvSpPr>
        <p:spPr>
          <a:xfrm>
            <a:off x="457200" y="3251200"/>
            <a:ext cx="309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BDBDBD"/>
                </a:solidFill>
                <a:latin typeface="Segoe UI"/>
              </a:rPr>
              <a:t>Medical appointments</a:t>
            </a:r>
          </a:p>
        </p:txBody>
      </p:sp>
    </p:spTree>
    <p:extLst>
      <p:ext uri="{BB962C8B-B14F-4D97-AF65-F5344CB8AC3E}">
        <p14:creationId xmlns:p14="http://schemas.microsoft.com/office/powerpoint/2010/main" val="41372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330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1" spc="300" dirty="0">
              <a:solidFill>
                <a:srgbClr val="4A4A4A"/>
              </a:solidFill>
              <a:latin typeface="Segoe U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660400"/>
            <a:ext cx="11277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232323"/>
                </a:solidFill>
                <a:latin typeface="Georgia"/>
              </a:rPr>
              <a:t>How can we reduce no-shows to medical appointments?</a:t>
            </a:r>
          </a:p>
        </p:txBody>
      </p:sp>
      <p:sp>
        <p:nvSpPr>
          <p:cNvPr id="14" name="Card 01"/>
          <p:cNvSpPr/>
          <p:nvPr/>
        </p:nvSpPr>
        <p:spPr>
          <a:xfrm>
            <a:off x="457200" y="1625599"/>
            <a:ext cx="3539067" cy="304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5" name="Card bar 01"/>
          <p:cNvSpPr/>
          <p:nvPr/>
        </p:nvSpPr>
        <p:spPr>
          <a:xfrm>
            <a:off x="457200" y="1625599"/>
            <a:ext cx="35390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Card head 01"/>
          <p:cNvSpPr/>
          <p:nvPr/>
        </p:nvSpPr>
        <p:spPr>
          <a:xfrm>
            <a:off x="711200" y="1879599"/>
            <a:ext cx="30310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00" dirty="0">
                <a:solidFill>
                  <a:srgbClr val="7A8794"/>
                </a:solidFill>
                <a:latin typeface="Georgia"/>
              </a:rPr>
              <a:t>01</a:t>
            </a:r>
          </a:p>
        </p:txBody>
      </p:sp>
      <p:sp>
        <p:nvSpPr>
          <p:cNvPr id="17" name="Card body 01"/>
          <p:cNvSpPr/>
          <p:nvPr/>
        </p:nvSpPr>
        <p:spPr>
          <a:xfrm>
            <a:off x="711200" y="2793999"/>
            <a:ext cx="3031067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The health unit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schedules appointments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to meet patient demand and use its care capacity.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Attendance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is what makes those schedules productive.</a:t>
            </a:r>
          </a:p>
        </p:txBody>
      </p:sp>
      <p:sp>
        <p:nvSpPr>
          <p:cNvPr id="18" name="Arrow 0"/>
          <p:cNvSpPr/>
          <p:nvPr/>
        </p:nvSpPr>
        <p:spPr>
          <a:xfrm>
            <a:off x="3996267" y="2984499"/>
            <a:ext cx="330200" cy="330200"/>
          </a:xfrm>
          <a:prstGeom prst="ellipse">
            <a:avLst/>
          </a:prstGeom>
          <a:solidFill>
            <a:srgbClr val="7A8794"/>
          </a:solidFill>
          <a:ln w="1270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›</a:t>
            </a:r>
          </a:p>
        </p:txBody>
      </p:sp>
      <p:sp>
        <p:nvSpPr>
          <p:cNvPr id="19" name="Card 02"/>
          <p:cNvSpPr/>
          <p:nvPr/>
        </p:nvSpPr>
        <p:spPr>
          <a:xfrm>
            <a:off x="4326467" y="1625599"/>
            <a:ext cx="3539067" cy="304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0" name="Card bar 02"/>
          <p:cNvSpPr/>
          <p:nvPr/>
        </p:nvSpPr>
        <p:spPr>
          <a:xfrm>
            <a:off x="4326467" y="1625599"/>
            <a:ext cx="35390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Card head 02"/>
          <p:cNvSpPr/>
          <p:nvPr/>
        </p:nvSpPr>
        <p:spPr>
          <a:xfrm>
            <a:off x="4580467" y="1879599"/>
            <a:ext cx="30310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00" dirty="0">
                <a:solidFill>
                  <a:srgbClr val="7A8794"/>
                </a:solidFill>
                <a:latin typeface="Georgia"/>
              </a:rPr>
              <a:t>02</a:t>
            </a:r>
          </a:p>
        </p:txBody>
      </p:sp>
      <p:sp>
        <p:nvSpPr>
          <p:cNvPr id="22" name="Card body 02"/>
          <p:cNvSpPr/>
          <p:nvPr/>
        </p:nvSpPr>
        <p:spPr>
          <a:xfrm>
            <a:off x="4580467" y="2793999"/>
            <a:ext cx="3031067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Some patients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miss their scheduled appointments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leaving capacity idle. It is still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unclear which factors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are most associated with no-shows, or which actions could reduce them.</a:t>
            </a:r>
          </a:p>
        </p:txBody>
      </p:sp>
      <p:sp>
        <p:nvSpPr>
          <p:cNvPr id="23" name="Arrow 1"/>
          <p:cNvSpPr/>
          <p:nvPr/>
        </p:nvSpPr>
        <p:spPr>
          <a:xfrm>
            <a:off x="7865533" y="2984499"/>
            <a:ext cx="330200" cy="330200"/>
          </a:xfrm>
          <a:prstGeom prst="ellipse">
            <a:avLst/>
          </a:prstGeom>
          <a:solidFill>
            <a:srgbClr val="7A8794"/>
          </a:solidFill>
          <a:ln w="1270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›</a:t>
            </a:r>
          </a:p>
        </p:txBody>
      </p:sp>
      <p:sp>
        <p:nvSpPr>
          <p:cNvPr id="24" name="Card 03"/>
          <p:cNvSpPr/>
          <p:nvPr/>
        </p:nvSpPr>
        <p:spPr>
          <a:xfrm>
            <a:off x="8195733" y="1625599"/>
            <a:ext cx="3539067" cy="304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Card bar 03"/>
          <p:cNvSpPr/>
          <p:nvPr/>
        </p:nvSpPr>
        <p:spPr>
          <a:xfrm>
            <a:off x="8195733" y="1625599"/>
            <a:ext cx="3539067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Card head 03"/>
          <p:cNvSpPr/>
          <p:nvPr/>
        </p:nvSpPr>
        <p:spPr>
          <a:xfrm>
            <a:off x="8449733" y="1879599"/>
            <a:ext cx="30310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00" dirty="0">
                <a:solidFill>
                  <a:srgbClr val="E3A12F"/>
                </a:solidFill>
                <a:latin typeface="Georgia"/>
              </a:rPr>
              <a:t>03</a:t>
            </a:r>
          </a:p>
        </p:txBody>
      </p:sp>
      <p:sp>
        <p:nvSpPr>
          <p:cNvPr id="27" name="Card body 03"/>
          <p:cNvSpPr/>
          <p:nvPr/>
        </p:nvSpPr>
        <p:spPr>
          <a:xfrm>
            <a:off x="8449733" y="2793999"/>
            <a:ext cx="3031067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500" i="1" dirty="0">
                <a:solidFill>
                  <a:srgbClr val="F2F2F2"/>
                </a:solidFill>
                <a:latin typeface="Georgia"/>
              </a:rPr>
              <a:t>Which factors are associated with no-shows, and </a:t>
            </a:r>
            <a:r>
              <a:rPr lang="en-US" sz="1500" b="1" i="1" dirty="0">
                <a:solidFill>
                  <a:srgbClr val="E3A12F"/>
                </a:solidFill>
                <a:latin typeface="Georgia"/>
              </a:rPr>
              <a:t>which initiatives should be prioritized</a:t>
            </a:r>
            <a:r>
              <a:rPr lang="en-US" sz="1500" i="1" dirty="0">
                <a:solidFill>
                  <a:srgbClr val="F2F2F2"/>
                </a:solidFill>
                <a:latin typeface="Georgia"/>
              </a:rPr>
              <a:t> to reduce no-shows and make better use of care capacity?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457200" y="51816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9" name="Big number"/>
          <p:cNvSpPr/>
          <p:nvPr/>
        </p:nvSpPr>
        <p:spPr>
          <a:xfrm>
            <a:off x="457200" y="52578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dirty="0">
                <a:solidFill>
                  <a:srgbClr val="C0623A"/>
                </a:solidFill>
                <a:latin typeface="Georgia"/>
              </a:rPr>
              <a:t>20.2%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3683000" y="5410200"/>
            <a:ext cx="0" cy="63500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1" name="Big number text"/>
          <p:cNvSpPr/>
          <p:nvPr/>
        </p:nvSpPr>
        <p:spPr>
          <a:xfrm>
            <a:off x="3937000" y="5308600"/>
            <a:ext cx="77978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32323"/>
                </a:solidFill>
                <a:latin typeface="Segoe UI"/>
              </a:rPr>
              <a:t>Size of the problem in the dataset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of recorded appointments ended in a no-show (2016 historical data)</a:t>
            </a:r>
          </a:p>
        </p:txBody>
      </p:sp>
      <p:sp>
        <p:nvSpPr>
          <p:cNvPr id="32" name="Note"/>
          <p:cNvSpPr/>
          <p:nvPr/>
        </p:nvSpPr>
        <p:spPr>
          <a:xfrm>
            <a:off x="457200" y="6223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Note: the case brief cites a 30% no-show rate; the dataset shows 20.2%, adopted as the baseline. Source: Medical Appointment No-Shows (Kaggle), 2016.</a:t>
            </a:r>
          </a:p>
        </p:txBody>
      </p:sp>
      <p:pic>
        <p:nvPicPr>
          <p:cNvPr id="34" name="Graphic 34" descr="Complication: missed appointment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0890" y="2158999"/>
            <a:ext cx="482600" cy="482600"/>
          </a:xfrm>
          <a:prstGeom prst="rect">
            <a:avLst/>
          </a:prstGeom>
        </p:spPr>
      </p:pic>
      <p:pic>
        <p:nvPicPr>
          <p:cNvPr id="35" name="Graphic 35" descr="Question: investigate factor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9310" y="2158999"/>
            <a:ext cx="482600" cy="482600"/>
          </a:xfrm>
          <a:prstGeom prst="rect">
            <a:avLst/>
          </a:prstGeom>
        </p:spPr>
      </p:pic>
      <p:pic>
        <p:nvPicPr>
          <p:cNvPr id="36" name="Graphic 36" descr="Situation: health unit and appointment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" y="2158999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0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330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 PROBLEM AND OBJECTIVE</a:t>
            </a:r>
          </a:p>
        </p:txBody>
      </p:sp>
      <p:sp>
        <p:nvSpPr>
          <p:cNvPr id="14" name="Stat 1"/>
          <p:cNvSpPr/>
          <p:nvPr/>
        </p:nvSpPr>
        <p:spPr>
          <a:xfrm>
            <a:off x="457200" y="1206500"/>
            <a:ext cx="3403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232323"/>
                </a:solidFill>
                <a:latin typeface="Georgia"/>
              </a:rPr>
              <a:t>110,521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valid appointments in the historical data</a:t>
            </a:r>
          </a:p>
        </p:txBody>
      </p:sp>
      <p:cxnSp>
        <p:nvCxnSpPr>
          <p:cNvPr id="15" name="Line 15"/>
          <p:cNvCxnSpPr>
            <a:cxnSpLocks/>
          </p:cNvCxnSpPr>
          <p:nvPr/>
        </p:nvCxnSpPr>
        <p:spPr>
          <a:xfrm>
            <a:off x="4038600" y="1282700"/>
            <a:ext cx="0" cy="76200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Stat 2"/>
          <p:cNvSpPr/>
          <p:nvPr/>
        </p:nvSpPr>
        <p:spPr>
          <a:xfrm>
            <a:off x="4216400" y="1206500"/>
            <a:ext cx="3403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C0623A"/>
                </a:solidFill>
                <a:latin typeface="Georgia"/>
              </a:rPr>
              <a:t>22,314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ended in a no-show</a:t>
            </a:r>
          </a:p>
        </p:txBody>
      </p:sp>
      <p:cxnSp>
        <p:nvCxnSpPr>
          <p:cNvPr id="17" name="Line 17"/>
          <p:cNvCxnSpPr>
            <a:cxnSpLocks/>
          </p:cNvCxnSpPr>
          <p:nvPr/>
        </p:nvCxnSpPr>
        <p:spPr>
          <a:xfrm>
            <a:off x="7797800" y="1282700"/>
            <a:ext cx="0" cy="76200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8" name="Stat 3"/>
          <p:cNvSpPr/>
          <p:nvPr/>
        </p:nvSpPr>
        <p:spPr>
          <a:xfrm>
            <a:off x="7975600" y="1219200"/>
            <a:ext cx="3403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solidFill>
                  <a:srgbClr val="C0623A"/>
                </a:solidFill>
                <a:latin typeface="Georgia"/>
              </a:rPr>
              <a:t>20.2%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Baseline: no-show rate</a:t>
            </a:r>
          </a:p>
        </p:txBody>
      </p:sp>
      <p:sp>
        <p:nvSpPr>
          <p:cNvPr id="19" name="Bar no-show"/>
          <p:cNvSpPr/>
          <p:nvPr/>
        </p:nvSpPr>
        <p:spPr>
          <a:xfrm>
            <a:off x="457200" y="2590800"/>
            <a:ext cx="2278075" cy="3810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20.2% no-show</a:t>
            </a:r>
          </a:p>
        </p:txBody>
      </p:sp>
      <p:sp>
        <p:nvSpPr>
          <p:cNvPr id="20" name="Bar attended"/>
          <p:cNvSpPr/>
          <p:nvPr/>
        </p:nvSpPr>
        <p:spPr>
          <a:xfrm>
            <a:off x="2760675" y="2590800"/>
            <a:ext cx="8974125" cy="381000"/>
          </a:xfrm>
          <a:prstGeom prst="rect">
            <a:avLst/>
          </a:prstGeom>
          <a:solidFill>
            <a:srgbClr val="E4E4E0"/>
          </a:solidFill>
          <a:ln>
            <a:noFill/>
          </a:ln>
        </p:spPr>
        <p:txBody>
          <a:bodyPr wrap="square" lIns="127000" tIns="0" rIns="1270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79.8% attended</a:t>
            </a:r>
          </a:p>
        </p:txBody>
      </p:sp>
      <p:sp>
        <p:nvSpPr>
          <p:cNvPr id="21" name="Bar caption"/>
          <p:cNvSpPr/>
          <p:nvPr/>
        </p:nvSpPr>
        <p:spPr>
          <a:xfrm>
            <a:off x="457200" y="30480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Breakdown of the 110,521 valid appointments</a:t>
            </a:r>
          </a:p>
        </p:txBody>
      </p:sp>
      <p:sp>
        <p:nvSpPr>
          <p:cNvPr id="22" name="Card objetivo"/>
          <p:cNvSpPr/>
          <p:nvPr/>
        </p:nvSpPr>
        <p:spPr>
          <a:xfrm>
            <a:off x="457200" y="3505200"/>
            <a:ext cx="3589867" cy="2540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Bar objetivo"/>
          <p:cNvSpPr/>
          <p:nvPr/>
        </p:nvSpPr>
        <p:spPr>
          <a:xfrm>
            <a:off x="457200" y="3505200"/>
            <a:ext cx="3589867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Text objetivo"/>
          <p:cNvSpPr/>
          <p:nvPr/>
        </p:nvSpPr>
        <p:spPr>
          <a:xfrm>
            <a:off x="711200" y="3759200"/>
            <a:ext cx="3081867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OBJECTIVE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E6E6E6"/>
                </a:solidFill>
                <a:latin typeface="Segoe UI"/>
              </a:rPr>
              <a:t>Identify the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factors associated with no-shows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 and </a:t>
            </a:r>
            <a:r>
              <a:rPr lang="en-US" sz="1400" b="1" dirty="0">
                <a:solidFill>
                  <a:srgbClr val="E3A12F"/>
                </a:solidFill>
                <a:latin typeface="Segoe UI"/>
              </a:rPr>
              <a:t>prioritize initiatives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 that can reduce no-shows and make better use of care capacity.</a:t>
            </a:r>
          </a:p>
        </p:txBody>
      </p:sp>
      <p:sp>
        <p:nvSpPr>
          <p:cNvPr id="25" name="Card abordagem"/>
          <p:cNvSpPr/>
          <p:nvPr/>
        </p:nvSpPr>
        <p:spPr>
          <a:xfrm>
            <a:off x="4301067" y="3505200"/>
            <a:ext cx="3589867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ar abordagem"/>
          <p:cNvSpPr/>
          <p:nvPr/>
        </p:nvSpPr>
        <p:spPr>
          <a:xfrm>
            <a:off x="4301067" y="3505200"/>
            <a:ext cx="35898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Label abordagem"/>
          <p:cNvSpPr/>
          <p:nvPr/>
        </p:nvSpPr>
        <p:spPr>
          <a:xfrm>
            <a:off x="4555067" y="3759200"/>
            <a:ext cx="3081867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APPROACH</a:t>
            </a:r>
          </a:p>
        </p:txBody>
      </p:sp>
      <p:sp>
        <p:nvSpPr>
          <p:cNvPr id="28" name="Step 1"/>
          <p:cNvSpPr/>
          <p:nvPr/>
        </p:nvSpPr>
        <p:spPr>
          <a:xfrm>
            <a:off x="4555067" y="4140200"/>
            <a:ext cx="304800" cy="3048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9" name="Step text 1"/>
          <p:cNvSpPr/>
          <p:nvPr/>
        </p:nvSpPr>
        <p:spPr>
          <a:xfrm>
            <a:off x="4986867" y="4114800"/>
            <a:ext cx="2650067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Structure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hypotheses</a:t>
            </a:r>
          </a:p>
        </p:txBody>
      </p:sp>
      <p:sp>
        <p:nvSpPr>
          <p:cNvPr id="30" name="Step 2"/>
          <p:cNvSpPr/>
          <p:nvPr/>
        </p:nvSpPr>
        <p:spPr>
          <a:xfrm>
            <a:off x="4555067" y="4648200"/>
            <a:ext cx="304800" cy="3048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Step text 2"/>
          <p:cNvSpPr/>
          <p:nvPr/>
        </p:nvSpPr>
        <p:spPr>
          <a:xfrm>
            <a:off x="4986867" y="4622800"/>
            <a:ext cx="2650067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Test them with the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available data</a:t>
            </a:r>
          </a:p>
        </p:txBody>
      </p:sp>
      <p:sp>
        <p:nvSpPr>
          <p:cNvPr id="32" name="Step 3"/>
          <p:cNvSpPr/>
          <p:nvPr/>
        </p:nvSpPr>
        <p:spPr>
          <a:xfrm>
            <a:off x="4555067" y="5156200"/>
            <a:ext cx="304800" cy="3048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Step text 3"/>
          <p:cNvSpPr/>
          <p:nvPr/>
        </p:nvSpPr>
        <p:spPr>
          <a:xfrm>
            <a:off x="4986867" y="5130800"/>
            <a:ext cx="2650067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Turn the main findings into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practical recommendations</a:t>
            </a:r>
          </a:p>
        </p:txBody>
      </p:sp>
      <p:sp>
        <p:nvSpPr>
          <p:cNvPr id="34" name="Card escopo"/>
          <p:cNvSpPr/>
          <p:nvPr/>
        </p:nvSpPr>
        <p:spPr>
          <a:xfrm>
            <a:off x="8144933" y="3505200"/>
            <a:ext cx="3589867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Bar escopo"/>
          <p:cNvSpPr/>
          <p:nvPr/>
        </p:nvSpPr>
        <p:spPr>
          <a:xfrm>
            <a:off x="8144933" y="3505200"/>
            <a:ext cx="3589867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Text escopo"/>
          <p:cNvSpPr/>
          <p:nvPr/>
        </p:nvSpPr>
        <p:spPr>
          <a:xfrm>
            <a:off x="8398933" y="3759200"/>
            <a:ext cx="3081867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SCOPE AND LIMITATION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The analysis uses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2016 data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and identifies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associations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; the effectiveness of the proposed solutions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still needs to be validated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.</a:t>
            </a:r>
          </a:p>
        </p:txBody>
      </p:sp>
      <p:sp>
        <p:nvSpPr>
          <p:cNvPr id="37" name="Note"/>
          <p:cNvSpPr/>
          <p:nvPr/>
        </p:nvSpPr>
        <p:spPr>
          <a:xfrm>
            <a:off x="457200" y="62484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Source: Medical Appointment No-Shows (Kaggle), 2016.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AB119D-09DF-5A68-0119-982C0CEFFB62}"/>
              </a:ext>
            </a:extLst>
          </p:cNvPr>
          <p:cNvSpPr txBox="1"/>
          <p:nvPr/>
        </p:nvSpPr>
        <p:spPr>
          <a:xfrm>
            <a:off x="355601" y="628590"/>
            <a:ext cx="110235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32323"/>
                </a:solidFill>
                <a:latin typeface="Georgia"/>
              </a:rPr>
              <a:t>One in five appointments is missed, leaving slots empty</a:t>
            </a:r>
            <a:endParaRPr lang="pt-BR" sz="2800" b="1" dirty="0">
              <a:solidFill>
                <a:srgbClr val="232323"/>
              </a:solidFill>
              <a:latin typeface="Georgi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232323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8624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3302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HYPOTHESIS TREE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635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323"/>
                </a:solidFill>
                <a:latin typeface="Georgia"/>
              </a:rPr>
              <a:t>Four factors were analyzed to identify what drives no-shows</a:t>
            </a:r>
          </a:p>
        </p:txBody>
      </p:sp>
      <p:sp>
        <p:nvSpPr>
          <p:cNvPr id="14" name="Root"/>
          <p:cNvSpPr/>
          <p:nvPr/>
        </p:nvSpPr>
        <p:spPr>
          <a:xfrm>
            <a:off x="1905000" y="1270000"/>
            <a:ext cx="8382000" cy="609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CENTRAL QUESTION   </a:t>
            </a:r>
            <a:r>
              <a:rPr lang="en-US" sz="1400" i="1" dirty="0">
                <a:solidFill>
                  <a:srgbClr val="FFFFFF"/>
                </a:solidFill>
                <a:latin typeface="Georgia"/>
              </a:rPr>
              <a:t>What sets apart the appointments patients attend from the ones they miss?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6096000" y="18796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790700" y="2082800"/>
            <a:ext cx="8610600" cy="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7907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6609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5311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401300" y="2082800"/>
            <a:ext cx="0" cy="203200"/>
          </a:xfrm>
          <a:prstGeom prst="line">
            <a:avLst/>
          </a:prstGeom>
          <a:ln w="12700">
            <a:solidFill>
              <a:srgbClr val="B8BEC5"/>
            </a:solidFill>
          </a:ln>
        </p:spPr>
      </p:cxnSp>
      <p:sp>
        <p:nvSpPr>
          <p:cNvPr id="21" name="Branch 1"/>
          <p:cNvSpPr/>
          <p:nvPr/>
        </p:nvSpPr>
        <p:spPr>
          <a:xfrm>
            <a:off x="4572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Branch bar 1"/>
          <p:cNvSpPr/>
          <p:nvPr/>
        </p:nvSpPr>
        <p:spPr>
          <a:xfrm>
            <a:off x="4572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Branch title 1"/>
          <p:cNvSpPr/>
          <p:nvPr/>
        </p:nvSpPr>
        <p:spPr>
          <a:xfrm>
            <a:off x="6096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Scheduling</a:t>
            </a:r>
          </a:p>
        </p:txBody>
      </p:sp>
      <p:sp>
        <p:nvSpPr>
          <p:cNvPr id="24" name="Hypotheses 1"/>
          <p:cNvSpPr/>
          <p:nvPr/>
        </p:nvSpPr>
        <p:spPr>
          <a:xfrm>
            <a:off x="5080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Lead time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Is a longer lead time between booking and appointment associated with more no-shows?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Weekday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Does the weekday affect the no-show rate?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Lead-time groups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no-shows concentrated in specific lead-time groups?</a:t>
            </a:r>
          </a:p>
        </p:txBody>
      </p:sp>
      <p:sp>
        <p:nvSpPr>
          <p:cNvPr id="25" name="Branch 2"/>
          <p:cNvSpPr/>
          <p:nvPr/>
        </p:nvSpPr>
        <p:spPr>
          <a:xfrm>
            <a:off x="33274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ranch bar 2"/>
          <p:cNvSpPr/>
          <p:nvPr/>
        </p:nvSpPr>
        <p:spPr>
          <a:xfrm>
            <a:off x="33274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Branch title 2"/>
          <p:cNvSpPr/>
          <p:nvPr/>
        </p:nvSpPr>
        <p:spPr>
          <a:xfrm>
            <a:off x="34798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Communication</a:t>
            </a:r>
          </a:p>
        </p:txBody>
      </p:sp>
      <p:sp>
        <p:nvSpPr>
          <p:cNvPr id="28" name="Hypotheses 2"/>
          <p:cNvSpPr/>
          <p:nvPr/>
        </p:nvSpPr>
        <p:spPr>
          <a:xfrm>
            <a:off x="33782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SMS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 appointments with an SMS have a lower no-show rate?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SMS × lead time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Does the association between SMS and no-shows hold when controlling for lead time?</a:t>
            </a:r>
          </a:p>
        </p:txBody>
      </p:sp>
      <p:sp>
        <p:nvSpPr>
          <p:cNvPr id="29" name="Branch 3"/>
          <p:cNvSpPr/>
          <p:nvPr/>
        </p:nvSpPr>
        <p:spPr>
          <a:xfrm>
            <a:off x="61976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Branch bar 3"/>
          <p:cNvSpPr/>
          <p:nvPr/>
        </p:nvSpPr>
        <p:spPr>
          <a:xfrm>
            <a:off x="61976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Branch title 3"/>
          <p:cNvSpPr/>
          <p:nvPr/>
        </p:nvSpPr>
        <p:spPr>
          <a:xfrm>
            <a:off x="63500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3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Patient profile</a:t>
            </a:r>
          </a:p>
        </p:txBody>
      </p:sp>
      <p:sp>
        <p:nvSpPr>
          <p:cNvPr id="32" name="Hypotheses 3"/>
          <p:cNvSpPr/>
          <p:nvPr/>
        </p:nvSpPr>
        <p:spPr>
          <a:xfrm>
            <a:off x="62484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Age and gender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age and gender associated with no-shows?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Conditions and indicators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scholarship, hypertension, diabetes, alcoholism and disability associated with no-shows?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No-show history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Is no-show history associated with future attendance?</a:t>
            </a:r>
          </a:p>
        </p:txBody>
      </p:sp>
      <p:sp>
        <p:nvSpPr>
          <p:cNvPr id="33" name="Branch 4"/>
          <p:cNvSpPr/>
          <p:nvPr/>
        </p:nvSpPr>
        <p:spPr>
          <a:xfrm>
            <a:off x="9067800" y="2286000"/>
            <a:ext cx="2667000" cy="508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Branch bar 4"/>
          <p:cNvSpPr/>
          <p:nvPr/>
        </p:nvSpPr>
        <p:spPr>
          <a:xfrm>
            <a:off x="9067800" y="2286000"/>
            <a:ext cx="2667000" cy="381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Branch title 4"/>
          <p:cNvSpPr/>
          <p:nvPr/>
        </p:nvSpPr>
        <p:spPr>
          <a:xfrm>
            <a:off x="9220200" y="2324100"/>
            <a:ext cx="2362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Georgia"/>
              </a:rPr>
              <a:t>4 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Location</a:t>
            </a:r>
          </a:p>
        </p:txBody>
      </p:sp>
      <p:sp>
        <p:nvSpPr>
          <p:cNvPr id="36" name="Hypotheses 4"/>
          <p:cNvSpPr/>
          <p:nvPr/>
        </p:nvSpPr>
        <p:spPr>
          <a:xfrm>
            <a:off x="9118600" y="2946400"/>
            <a:ext cx="25654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Neighborhood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Are there neighborhoods with above-average no-show rates?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Neighborhood × lead time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Do the differences between neighborhoods hold after controlling for lead time?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457200" y="58166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8" name="Criterio"/>
          <p:cNvSpPr/>
          <p:nvPr/>
        </p:nvSpPr>
        <p:spPr>
          <a:xfrm>
            <a:off x="457200" y="59182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EVALUATION CRITERION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Size of the difference, statistical evidence and operational relevance.</a:t>
            </a:r>
          </a:p>
        </p:txBody>
      </p:sp>
      <p:sp>
        <p:nvSpPr>
          <p:cNvPr id="39" name="Resultado"/>
          <p:cNvSpPr/>
          <p:nvPr/>
        </p:nvSpPr>
        <p:spPr>
          <a:xfrm>
            <a:off x="6096000" y="5918200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A86F10"/>
                </a:solidFill>
                <a:latin typeface="Segoe UI"/>
              </a:rPr>
              <a:t>EXPECTED OUTCOME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Identify priority factors, rule out hypotheses with no practical relevance and define initiatives worth testing.</a:t>
            </a:r>
          </a:p>
        </p:txBody>
      </p:sp>
    </p:spTree>
    <p:extLst>
      <p:ext uri="{BB962C8B-B14F-4D97-AF65-F5344CB8AC3E}">
        <p14:creationId xmlns:p14="http://schemas.microsoft.com/office/powerpoint/2010/main" val="13393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ANALYSIS  ·  SCHEDULING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Booking lead time is associated with higher no-show rates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4478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Appointments booked further ahead have higher no-show rates.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8288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Chart label"/>
          <p:cNvSpPr/>
          <p:nvPr/>
        </p:nvSpPr>
        <p:spPr>
          <a:xfrm>
            <a:off x="457200" y="19812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No-show rate by booking lead time, %</a:t>
            </a:r>
          </a:p>
        </p:txBody>
      </p:sp>
      <p:sp>
        <p:nvSpPr>
          <p:cNvPr id="17" name="Insights label"/>
          <p:cNvSpPr/>
          <p:nvPr/>
        </p:nvSpPr>
        <p:spPr>
          <a:xfrm>
            <a:off x="7924800" y="1981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200" dirty="0">
                <a:solidFill>
                  <a:srgbClr val="5E6B78"/>
                </a:solidFill>
                <a:latin typeface="Segoe UI"/>
              </a:rPr>
              <a:t>KEY INSIGHTS</a:t>
            </a:r>
          </a:p>
        </p:txBody>
      </p:sp>
      <p:sp>
        <p:nvSpPr>
          <p:cNvPr id="18" name="Insight bar 1"/>
          <p:cNvSpPr/>
          <p:nvPr/>
        </p:nvSpPr>
        <p:spPr>
          <a:xfrm>
            <a:off x="7924800" y="2336800"/>
            <a:ext cx="38100" cy="9906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Insight 1"/>
          <p:cNvSpPr/>
          <p:nvPr/>
        </p:nvSpPr>
        <p:spPr>
          <a:xfrm>
            <a:off x="8128000" y="2336800"/>
            <a:ext cx="3606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C0623A"/>
                </a:solidFill>
                <a:latin typeface="Georgia"/>
              </a:rPr>
              <a:t>28.4 p.p.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difference between the no-show rate of same-day appointments and those booked 31 or more days ahead.</a:t>
            </a:r>
          </a:p>
        </p:txBody>
      </p:sp>
      <p:sp>
        <p:nvSpPr>
          <p:cNvPr id="20" name="Insight bar 2"/>
          <p:cNvSpPr/>
          <p:nvPr/>
        </p:nvSpPr>
        <p:spPr>
          <a:xfrm>
            <a:off x="7924800" y="3454400"/>
            <a:ext cx="38100" cy="990600"/>
          </a:xfrm>
          <a:prstGeom prst="rect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Insight 2"/>
          <p:cNvSpPr/>
          <p:nvPr/>
        </p:nvSpPr>
        <p:spPr>
          <a:xfrm>
            <a:off x="8128000" y="3454400"/>
            <a:ext cx="3606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232323"/>
                </a:solidFill>
                <a:latin typeface="Georgia"/>
              </a:rPr>
              <a:t>92% of no-shows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occur in appointments booked at least one day ahead.</a:t>
            </a:r>
          </a:p>
        </p:txBody>
      </p:sp>
      <p:sp>
        <p:nvSpPr>
          <p:cNvPr id="22" name="Insight bar 3"/>
          <p:cNvSpPr/>
          <p:nvPr/>
        </p:nvSpPr>
        <p:spPr>
          <a:xfrm>
            <a:off x="7924800" y="4572000"/>
            <a:ext cx="38100" cy="990600"/>
          </a:xfrm>
          <a:prstGeom prst="rect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Insight 3"/>
          <p:cNvSpPr/>
          <p:nvPr/>
        </p:nvSpPr>
        <p:spPr>
          <a:xfrm>
            <a:off x="8128000" y="4572000"/>
            <a:ext cx="3606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232323"/>
                </a:solidFill>
                <a:latin typeface="Georgia"/>
              </a:rPr>
              <a:t>Cramér's V = 0.295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moderate association between lead time and no-shows.</a:t>
            </a:r>
          </a:p>
        </p:txBody>
      </p:sp>
      <p:sp>
        <p:nvSpPr>
          <p:cNvPr id="24" name="Conclusion"/>
          <p:cNvSpPr/>
          <p:nvPr/>
        </p:nvSpPr>
        <p:spPr>
          <a:xfrm>
            <a:off x="457200" y="5740400"/>
            <a:ext cx="11277600" cy="50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CONCLUSION   </a:t>
            </a:r>
            <a:r>
              <a:rPr lang="en-US" sz="1500" i="1" dirty="0">
                <a:solidFill>
                  <a:srgbClr val="FFFFFF"/>
                </a:solidFill>
                <a:latin typeface="Georgia"/>
              </a:rPr>
              <a:t>Finding ways to reduce no-shows in appointments booked in advance should be a priority.</a:t>
            </a:r>
          </a:p>
        </p:txBody>
      </p:sp>
      <p:sp>
        <p:nvSpPr>
          <p:cNvPr id="25" name="Note"/>
          <p:cNvSpPr/>
          <p:nvPr/>
        </p:nvSpPr>
        <p:spPr>
          <a:xfrm>
            <a:off x="457200" y="6350000"/>
            <a:ext cx="11277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Note: historical data from April 29 to June 8, 2016. The results show association, not causation. Same-day appointments may have different operational characteristics.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457200" y="2260600"/>
          <a:ext cx="70866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344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ANALYSIS  ·  COMMUNICATION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SMS is associated with lower no-show rates when we control for lead time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4478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The direct comparison is biased by differences in the profile of appointments that receive an SMS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8288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Left panel"/>
          <p:cNvSpPr/>
          <p:nvPr/>
        </p:nvSpPr>
        <p:spPr>
          <a:xfrm>
            <a:off x="457200" y="1981200"/>
            <a:ext cx="4064000" cy="2997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Left label"/>
          <p:cNvSpPr/>
          <p:nvPr/>
        </p:nvSpPr>
        <p:spPr>
          <a:xfrm>
            <a:off x="685800" y="2159000"/>
            <a:ext cx="360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RAW COMPARISON</a:t>
            </a:r>
          </a:p>
        </p:txBody>
      </p:sp>
      <p:sp>
        <p:nvSpPr>
          <p:cNvPr id="18" name="Stat sem"/>
          <p:cNvSpPr/>
          <p:nvPr/>
        </p:nvSpPr>
        <p:spPr>
          <a:xfrm>
            <a:off x="685800" y="25146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232323"/>
                </a:solidFill>
                <a:latin typeface="Georgia"/>
              </a:rPr>
              <a:t>16.7%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Without SMS</a:t>
            </a:r>
          </a:p>
        </p:txBody>
      </p:sp>
      <p:sp>
        <p:nvSpPr>
          <p:cNvPr id="19" name="Stat com"/>
          <p:cNvSpPr/>
          <p:nvPr/>
        </p:nvSpPr>
        <p:spPr>
          <a:xfrm>
            <a:off x="2565400" y="2514600"/>
            <a:ext cx="1714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232323"/>
                </a:solidFill>
                <a:latin typeface="Georgia"/>
              </a:rPr>
              <a:t>27.6%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With SMS</a:t>
            </a:r>
          </a:p>
        </p:txBody>
      </p:sp>
      <p:sp>
        <p:nvSpPr>
          <p:cNvPr id="20" name="Diff pill"/>
          <p:cNvSpPr/>
          <p:nvPr/>
        </p:nvSpPr>
        <p:spPr>
          <a:xfrm>
            <a:off x="685800" y="3429000"/>
            <a:ext cx="36068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Raw difference: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+10.9 percentage points</a:t>
            </a:r>
          </a:p>
        </p:txBody>
      </p:sp>
      <p:sp>
        <p:nvSpPr>
          <p:cNvPr id="21" name="Left text"/>
          <p:cNvSpPr/>
          <p:nvPr/>
        </p:nvSpPr>
        <p:spPr>
          <a:xfrm>
            <a:off x="685800" y="3835400"/>
            <a:ext cx="3606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At first sight, appointments with an SMS seem to have more no-shows. However, messages are sent mainly to appointments with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longer lead times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, which already have higher no-show rates.</a:t>
            </a:r>
          </a:p>
        </p:txBody>
      </p:sp>
      <p:sp>
        <p:nvSpPr>
          <p:cNvPr id="22" name="Arrow"/>
          <p:cNvSpPr/>
          <p:nvPr/>
        </p:nvSpPr>
        <p:spPr>
          <a:xfrm>
            <a:off x="4597400" y="3327400"/>
            <a:ext cx="279400" cy="2794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</a:rPr>
              <a:t>›</a:t>
            </a:r>
          </a:p>
        </p:txBody>
      </p:sp>
      <p:sp>
        <p:nvSpPr>
          <p:cNvPr id="23" name="Right label"/>
          <p:cNvSpPr/>
          <p:nvPr/>
        </p:nvSpPr>
        <p:spPr>
          <a:xfrm>
            <a:off x="4927600" y="1981200"/>
            <a:ext cx="680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COMPARISON WITHIN THE SAME LEAD-TIME GROUP</a:t>
            </a:r>
          </a:p>
        </p:txBody>
      </p:sp>
      <p:sp>
        <p:nvSpPr>
          <p:cNvPr id="24" name="Chart label"/>
          <p:cNvSpPr/>
          <p:nvPr/>
        </p:nvSpPr>
        <p:spPr>
          <a:xfrm>
            <a:off x="4927600" y="2260600"/>
            <a:ext cx="680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Difference in no-show rate associated with SMS, by lead time, p.p.</a:t>
            </a:r>
          </a:p>
        </p:txBody>
      </p:sp>
      <p:sp>
        <p:nvSpPr>
          <p:cNvPr id="25" name="Chart caption"/>
          <p:cNvSpPr/>
          <p:nvPr/>
        </p:nvSpPr>
        <p:spPr>
          <a:xfrm>
            <a:off x="4927600" y="4749800"/>
            <a:ext cx="680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Negative = fewer no-shows with SMS. At 1–3 days, the difference is not significant (p = 0.24).</a:t>
            </a:r>
          </a:p>
        </p:txBody>
      </p:sp>
      <p:sp>
        <p:nvSpPr>
          <p:cNvPr id="26" name="Conclusao"/>
          <p:cNvSpPr/>
          <p:nvPr/>
        </p:nvSpPr>
        <p:spPr>
          <a:xfrm>
            <a:off x="457200" y="5257800"/>
            <a:ext cx="5537200" cy="1016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Conclusao bar"/>
          <p:cNvSpPr/>
          <p:nvPr/>
        </p:nvSpPr>
        <p:spPr>
          <a:xfrm>
            <a:off x="457200" y="5257800"/>
            <a:ext cx="38100" cy="10160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Conclusao text"/>
          <p:cNvSpPr/>
          <p:nvPr/>
        </p:nvSpPr>
        <p:spPr>
          <a:xfrm>
            <a:off x="685800" y="5384800"/>
            <a:ext cx="5105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MAIN CONCLUSION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With similar lead times, receiving an SMS is associated with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lower no-show rates in groups of 4 days or more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.</a:t>
            </a:r>
          </a:p>
        </p:txBody>
      </p:sp>
      <p:sp>
        <p:nvSpPr>
          <p:cNvPr id="29" name="Implicacao"/>
          <p:cNvSpPr/>
          <p:nvPr/>
        </p:nvSpPr>
        <p:spPr>
          <a:xfrm>
            <a:off x="6197600" y="5257800"/>
            <a:ext cx="5537200" cy="1016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Implicacao bar"/>
          <p:cNvSpPr/>
          <p:nvPr/>
        </p:nvSpPr>
        <p:spPr>
          <a:xfrm>
            <a:off x="6197600" y="5257800"/>
            <a:ext cx="38100" cy="10160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Implicacao text"/>
          <p:cNvSpPr/>
          <p:nvPr/>
        </p:nvSpPr>
        <p:spPr>
          <a:xfrm>
            <a:off x="6426200" y="5384800"/>
            <a:ext cx="5105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BUSINESS IMPLICATION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Prioritize an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SMS pilot with active confirmation</a:t>
            </a:r>
            <a:r>
              <a:rPr lang="en-US" sz="1300" dirty="0">
                <a:solidFill>
                  <a:srgbClr val="E6E6E6"/>
                </a:solidFill>
                <a:latin typeface="Segoe UI"/>
              </a:rPr>
              <a:t> for appointments booked further ahead, assessing its effect against a control group.</a:t>
            </a:r>
          </a:p>
        </p:txBody>
      </p:sp>
      <p:sp>
        <p:nvSpPr>
          <p:cNvPr id="32" name="Note"/>
          <p:cNvSpPr/>
          <p:nvPr/>
        </p:nvSpPr>
        <p:spPr>
          <a:xfrm>
            <a:off x="457200" y="6375400"/>
            <a:ext cx="1127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Methodological note: an observational association does not prove causation. The result may be influenced by other differences between the groups.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4927600" y="2540000"/>
          <a:ext cx="68072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176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ANALYSIS  ·  PROFILE AND LOCATION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No-show history and location help identify priority groups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4478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Rates vary by history and neighborhood; for neighborhoods, even after controlling for lead time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8288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6" name="Left panel"/>
          <p:cNvSpPr/>
          <p:nvPr/>
        </p:nvSpPr>
        <p:spPr>
          <a:xfrm>
            <a:off x="457200" y="1981200"/>
            <a:ext cx="3175000" cy="2997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Left label"/>
          <p:cNvSpPr/>
          <p:nvPr/>
        </p:nvSpPr>
        <p:spPr>
          <a:xfrm>
            <a:off x="660400" y="2159000"/>
            <a:ext cx="276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NO-SHOW HISTORY</a:t>
            </a:r>
          </a:p>
        </p:txBody>
      </p:sp>
      <p:sp>
        <p:nvSpPr>
          <p:cNvPr id="18" name="Stat sem"/>
          <p:cNvSpPr/>
          <p:nvPr/>
        </p:nvSpPr>
        <p:spPr>
          <a:xfrm>
            <a:off x="660400" y="2514600"/>
            <a:ext cx="13335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18.8%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No recorded prior no-show</a:t>
            </a:r>
          </a:p>
        </p:txBody>
      </p:sp>
      <p:sp>
        <p:nvSpPr>
          <p:cNvPr id="19" name="Stat com"/>
          <p:cNvSpPr/>
          <p:nvPr/>
        </p:nvSpPr>
        <p:spPr>
          <a:xfrm>
            <a:off x="2095500" y="2514600"/>
            <a:ext cx="13335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C0623A"/>
                </a:solidFill>
                <a:latin typeface="Georgia"/>
              </a:rPr>
              <a:t>26.9%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Recorded prior no-show</a:t>
            </a:r>
          </a:p>
        </p:txBody>
      </p:sp>
      <p:sp>
        <p:nvSpPr>
          <p:cNvPr id="20" name="Diff pill"/>
          <p:cNvSpPr/>
          <p:nvPr/>
        </p:nvSpPr>
        <p:spPr>
          <a:xfrm>
            <a:off x="660400" y="3403600"/>
            <a:ext cx="27686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Difference: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+8.0 p.p.</a:t>
            </a:r>
          </a:p>
        </p:txBody>
      </p:sp>
      <p:sp>
        <p:nvSpPr>
          <p:cNvPr id="21" name="Left text"/>
          <p:cNvSpPr/>
          <p:nvPr/>
        </p:nvSpPr>
        <p:spPr>
          <a:xfrm>
            <a:off x="660400" y="3810000"/>
            <a:ext cx="276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Patients with a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recorded prior no-show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have a higher no-show rate in the dataset.</a:t>
            </a:r>
          </a:p>
        </p:txBody>
      </p:sp>
      <p:sp>
        <p:nvSpPr>
          <p:cNvPr id="22" name="Center label"/>
          <p:cNvSpPr/>
          <p:nvPr/>
        </p:nvSpPr>
        <p:spPr>
          <a:xfrm>
            <a:off x="3860800" y="1981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DIFFERENCES BETWEEN NEIGHBORHOODS</a:t>
            </a:r>
          </a:p>
        </p:txBody>
      </p:sp>
      <p:sp>
        <p:nvSpPr>
          <p:cNvPr id="23" name="Center intro"/>
          <p:cNvSpPr/>
          <p:nvPr/>
        </p:nvSpPr>
        <p:spPr>
          <a:xfrm>
            <a:off x="3860800" y="22606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Six neighborhoods had rates at least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3 p.p. above the overall average of 20.2%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:</a:t>
            </a:r>
          </a:p>
        </p:txBody>
      </p:sp>
      <p:sp>
        <p:nvSpPr>
          <p:cNvPr id="24" name="Center caption"/>
          <p:cNvSpPr/>
          <p:nvPr/>
        </p:nvSpPr>
        <p:spPr>
          <a:xfrm>
            <a:off x="3860800" y="4724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The differences remained positive after controlling for lead time.</a:t>
            </a:r>
          </a:p>
        </p:txBody>
      </p:sp>
      <p:sp>
        <p:nvSpPr>
          <p:cNvPr id="25" name="Right label"/>
          <p:cNvSpPr/>
          <p:nvPr/>
        </p:nvSpPr>
        <p:spPr>
          <a:xfrm>
            <a:off x="8915400" y="19812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623A"/>
                </a:solidFill>
                <a:latin typeface="Georgia"/>
              </a:rPr>
              <a:t>3  </a:t>
            </a: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OTHER FACTORS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8915400" y="2336800"/>
            <a:ext cx="2819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7" name="Factor 1"/>
          <p:cNvSpPr/>
          <p:nvPr/>
        </p:nvSpPr>
        <p:spPr>
          <a:xfrm>
            <a:off x="8915400" y="24384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E6B78"/>
                </a:solidFill>
                <a:latin typeface="Segoe UI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b="1" dirty="0">
                <a:solidFill>
                  <a:srgbClr val="C0623A"/>
                </a:solidFill>
                <a:latin typeface="Georgia"/>
              </a:rPr>
              <a:t>26.0% | 23.1%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4A4A4A"/>
                </a:solidFill>
                <a:latin typeface="Segoe UI"/>
              </a:rPr>
              <a:t>highest among teenagers and young adults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8915400" y="3276600"/>
            <a:ext cx="2819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29" name="Factor 2"/>
          <p:cNvSpPr/>
          <p:nvPr/>
        </p:nvSpPr>
        <p:spPr>
          <a:xfrm>
            <a:off x="8915400" y="33782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E6B78"/>
                </a:solidFill>
                <a:latin typeface="Segoe UI"/>
              </a:rPr>
              <a:t>Scholarship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b="1" dirty="0">
                <a:solidFill>
                  <a:srgbClr val="C0623A"/>
                </a:solidFill>
                <a:latin typeface="Georgia"/>
              </a:rPr>
              <a:t>+3.9 p.p.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4A4A4A"/>
                </a:solidFill>
                <a:latin typeface="Segoe UI"/>
              </a:rPr>
              <a:t>compared with non-beneficiaries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8915400" y="4216400"/>
            <a:ext cx="28194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31" name="Factor 3"/>
          <p:cNvSpPr/>
          <p:nvPr/>
        </p:nvSpPr>
        <p:spPr>
          <a:xfrm>
            <a:off x="8915400" y="4318000"/>
            <a:ext cx="281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E6B78"/>
                </a:solidFill>
                <a:latin typeface="Segoe UI"/>
              </a:rPr>
              <a:t>Gender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b="1" dirty="0">
                <a:solidFill>
                  <a:srgbClr val="6B6B6B"/>
                </a:solidFill>
                <a:latin typeface="Georgia"/>
              </a:rPr>
              <a:t>0.3 p.p.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100" dirty="0">
                <a:solidFill>
                  <a:srgbClr val="4A4A4A"/>
                </a:solidFill>
                <a:latin typeface="Segoe UI"/>
              </a:rPr>
              <a:t>small difference</a:t>
            </a:r>
          </a:p>
        </p:txBody>
      </p:sp>
      <p:sp>
        <p:nvSpPr>
          <p:cNvPr id="32" name="Implications"/>
          <p:cNvSpPr/>
          <p:nvPr/>
        </p:nvSpPr>
        <p:spPr>
          <a:xfrm>
            <a:off x="457200" y="5181600"/>
            <a:ext cx="11277600" cy="10922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" name="Impl bar"/>
          <p:cNvSpPr/>
          <p:nvPr/>
        </p:nvSpPr>
        <p:spPr>
          <a:xfrm>
            <a:off x="457200" y="5181600"/>
            <a:ext cx="38100" cy="10922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Impl label"/>
          <p:cNvSpPr/>
          <p:nvPr/>
        </p:nvSpPr>
        <p:spPr>
          <a:xfrm>
            <a:off x="685800" y="53213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BUSINESS IMPLICATIONS</a:t>
            </a:r>
          </a:p>
        </p:txBody>
      </p:sp>
      <p:sp>
        <p:nvSpPr>
          <p:cNvPr id="35" name="Impl 1"/>
          <p:cNvSpPr/>
          <p:nvPr/>
        </p:nvSpPr>
        <p:spPr>
          <a:xfrm>
            <a:off x="685800" y="5613400"/>
            <a:ext cx="3437467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E0E0E0"/>
                </a:solidFill>
                <a:latin typeface="Segoe UI"/>
              </a:rPr>
              <a:t>Test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additional reminders</a:t>
            </a:r>
            <a:r>
              <a:rPr lang="en-US" sz="1200" dirty="0">
                <a:solidFill>
                  <a:srgbClr val="E0E0E0"/>
                </a:solidFill>
                <a:latin typeface="Segoe UI"/>
              </a:rPr>
              <a:t> for patients with prior no-shows, assessing the result against a control group.</a:t>
            </a:r>
          </a:p>
        </p:txBody>
      </p:sp>
      <p:sp>
        <p:nvSpPr>
          <p:cNvPr id="36" name="Impl 2"/>
          <p:cNvSpPr/>
          <p:nvPr/>
        </p:nvSpPr>
        <p:spPr>
          <a:xfrm>
            <a:off x="4377267" y="5613400"/>
            <a:ext cx="3437467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E0E0E0"/>
                </a:solidFill>
                <a:latin typeface="Segoe UI"/>
              </a:rPr>
              <a:t>Investigate possible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access and communication barriers</a:t>
            </a:r>
            <a:r>
              <a:rPr lang="en-US" sz="1200" dirty="0">
                <a:solidFill>
                  <a:srgbClr val="E0E0E0"/>
                </a:solidFill>
                <a:latin typeface="Segoe UI"/>
              </a:rPr>
              <a:t> in high-rate areas, without penalizing residents.</a:t>
            </a:r>
          </a:p>
        </p:txBody>
      </p:sp>
      <p:sp>
        <p:nvSpPr>
          <p:cNvPr id="37" name="Impl 3"/>
          <p:cNvSpPr/>
          <p:nvPr/>
        </p:nvSpPr>
        <p:spPr>
          <a:xfrm>
            <a:off x="8068733" y="5613400"/>
            <a:ext cx="3437467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E0E0E0"/>
                </a:solidFill>
                <a:latin typeface="Segoe UI"/>
              </a:rPr>
              <a:t>Use the results as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signals for investigation</a:t>
            </a:r>
            <a:r>
              <a:rPr lang="en-US" sz="1200" dirty="0">
                <a:solidFill>
                  <a:srgbClr val="E0E0E0"/>
                </a:solidFill>
                <a:latin typeface="Segoe UI"/>
              </a:rPr>
              <a:t>, not as proof of individual causes.</a:t>
            </a:r>
          </a:p>
        </p:txBody>
      </p:sp>
      <p:sp>
        <p:nvSpPr>
          <p:cNvPr id="38" name="Note"/>
          <p:cNvSpPr/>
          <p:nvPr/>
        </p:nvSpPr>
        <p:spPr>
          <a:xfrm>
            <a:off x="457200" y="64262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Methodological note: the available history covers only about six weeks. The observed differences do not prove causation and may reflect factors not recorded in the data.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3860800" y="2743200"/>
          <a:ext cx="4826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6318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1" spc="300" dirty="0">
              <a:solidFill>
                <a:srgbClr val="4A4A4A"/>
              </a:solidFill>
              <a:latin typeface="Segoe U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Not every factor is relevant enough to guide action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0922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The analysis prioritizes factors with meaningful differences and operational potential</a:t>
            </a:r>
          </a:p>
        </p:txBody>
      </p:sp>
      <p:sp>
        <p:nvSpPr>
          <p:cNvPr id="15" name="Col bg 0"/>
          <p:cNvSpPr/>
          <p:nvPr/>
        </p:nvSpPr>
        <p:spPr>
          <a:xfrm>
            <a:off x="457200" y="1549400"/>
            <a:ext cx="5511800" cy="401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Col bar 0"/>
          <p:cNvSpPr/>
          <p:nvPr/>
        </p:nvSpPr>
        <p:spPr>
          <a:xfrm>
            <a:off x="457200" y="1549400"/>
            <a:ext cx="55118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Col head 0"/>
          <p:cNvSpPr/>
          <p:nvPr/>
        </p:nvSpPr>
        <p:spPr>
          <a:xfrm>
            <a:off x="685800" y="1752600"/>
            <a:ext cx="5054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50" dirty="0">
                <a:solidFill>
                  <a:srgbClr val="C0623A"/>
                </a:solidFill>
                <a:latin typeface="Segoe UI"/>
              </a:rPr>
              <a:t>PRIORITIZE FOR INVESTIGATION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Confirmed hypotheses or relevant associations</a:t>
            </a:r>
          </a:p>
        </p:txBody>
      </p:sp>
      <p:sp>
        <p:nvSpPr>
          <p:cNvPr id="18" name="Dot 0-0"/>
          <p:cNvSpPr/>
          <p:nvPr/>
        </p:nvSpPr>
        <p:spPr>
          <a:xfrm>
            <a:off x="685800" y="2489200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Item 0-0"/>
          <p:cNvSpPr/>
          <p:nvPr/>
        </p:nvSpPr>
        <p:spPr>
          <a:xfrm>
            <a:off x="889000" y="2413000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Booking lead time: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longer lead time associated with a higher no-show rate.</a:t>
            </a:r>
          </a:p>
        </p:txBody>
      </p:sp>
      <p:sp>
        <p:nvSpPr>
          <p:cNvPr id="21" name="Dot 0-1"/>
          <p:cNvSpPr/>
          <p:nvPr/>
        </p:nvSpPr>
        <p:spPr>
          <a:xfrm>
            <a:off x="685800" y="3014133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Item 0-1"/>
          <p:cNvSpPr/>
          <p:nvPr/>
        </p:nvSpPr>
        <p:spPr>
          <a:xfrm>
            <a:off x="889000" y="2937933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SMS controlled for lead time: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associated with lower no-show rates in appointments booked 4 or more days ahead.</a:t>
            </a:r>
          </a:p>
        </p:txBody>
      </p:sp>
      <p:sp>
        <p:nvSpPr>
          <p:cNvPr id="24" name="Dot 0-2"/>
          <p:cNvSpPr/>
          <p:nvPr/>
        </p:nvSpPr>
        <p:spPr>
          <a:xfrm>
            <a:off x="685800" y="3539067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Item 0-2"/>
          <p:cNvSpPr/>
          <p:nvPr/>
        </p:nvSpPr>
        <p:spPr>
          <a:xfrm>
            <a:off x="889000" y="3462867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No-show history: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26.9% with a recorded prior no-show, against 18.8% among returning patients without one.</a:t>
            </a:r>
          </a:p>
        </p:txBody>
      </p:sp>
      <p:sp>
        <p:nvSpPr>
          <p:cNvPr id="27" name="Dot 0-3"/>
          <p:cNvSpPr/>
          <p:nvPr/>
        </p:nvSpPr>
        <p:spPr>
          <a:xfrm>
            <a:off x="685800" y="4064000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Item 0-3"/>
          <p:cNvSpPr/>
          <p:nvPr/>
        </p:nvSpPr>
        <p:spPr>
          <a:xfrm>
            <a:off x="889000" y="3987800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Age: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teenagers and young adults have higher rates.</a:t>
            </a:r>
          </a:p>
        </p:txBody>
      </p:sp>
      <p:sp>
        <p:nvSpPr>
          <p:cNvPr id="30" name="Dot 0-4"/>
          <p:cNvSpPr/>
          <p:nvPr/>
        </p:nvSpPr>
        <p:spPr>
          <a:xfrm>
            <a:off x="685800" y="4588933"/>
            <a:ext cx="101600" cy="101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Item 0-4"/>
          <p:cNvSpPr/>
          <p:nvPr/>
        </p:nvSpPr>
        <p:spPr>
          <a:xfrm>
            <a:off x="889000" y="4512733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Neighborhoods: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six neighborhoods above the defined criterion, even after controlling for lead time.</a:t>
            </a:r>
          </a:p>
        </p:txBody>
      </p:sp>
      <p:sp>
        <p:nvSpPr>
          <p:cNvPr id="33" name="Dot 0-5"/>
          <p:cNvSpPr/>
          <p:nvPr/>
        </p:nvSpPr>
        <p:spPr>
          <a:xfrm>
            <a:off x="685800" y="5113867"/>
            <a:ext cx="101600" cy="101600"/>
          </a:xfrm>
          <a:prstGeom prst="ellipse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Item 0-5"/>
          <p:cNvSpPr/>
          <p:nvPr/>
        </p:nvSpPr>
        <p:spPr>
          <a:xfrm>
            <a:off x="889000" y="5037667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Scholarship and hypertension: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smaller associations; interpret with caution.</a:t>
            </a:r>
          </a:p>
        </p:txBody>
      </p:sp>
      <p:sp>
        <p:nvSpPr>
          <p:cNvPr id="35" name="Col bg 1"/>
          <p:cNvSpPr/>
          <p:nvPr/>
        </p:nvSpPr>
        <p:spPr>
          <a:xfrm>
            <a:off x="6223000" y="1549400"/>
            <a:ext cx="5511800" cy="4013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Col bar 1"/>
          <p:cNvSpPr/>
          <p:nvPr/>
        </p:nvSpPr>
        <p:spPr>
          <a:xfrm>
            <a:off x="6223000" y="1549400"/>
            <a:ext cx="5511800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7" name="Col head 1"/>
          <p:cNvSpPr/>
          <p:nvPr/>
        </p:nvSpPr>
        <p:spPr>
          <a:xfrm>
            <a:off x="6451600" y="1752600"/>
            <a:ext cx="5054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150" dirty="0">
                <a:solidFill>
                  <a:srgbClr val="5E6B78"/>
                </a:solidFill>
                <a:latin typeface="Segoe UI"/>
              </a:rPr>
              <a:t>NO SPECIFIC ACTION FOR NOW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Not practically relevant enough, or inconclusive</a:t>
            </a:r>
          </a:p>
        </p:txBody>
      </p:sp>
      <p:sp>
        <p:nvSpPr>
          <p:cNvPr id="38" name="Dot 1-0"/>
          <p:cNvSpPr/>
          <p:nvPr/>
        </p:nvSpPr>
        <p:spPr>
          <a:xfrm>
            <a:off x="6451600" y="2489200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Item 1-0"/>
          <p:cNvSpPr/>
          <p:nvPr/>
        </p:nvSpPr>
        <p:spPr>
          <a:xfrm>
            <a:off x="6654800" y="2413000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Weekday and gender: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small differences.</a:t>
            </a:r>
          </a:p>
        </p:txBody>
      </p:sp>
      <p:sp>
        <p:nvSpPr>
          <p:cNvPr id="41" name="Dot 1-1"/>
          <p:cNvSpPr/>
          <p:nvPr/>
        </p:nvSpPr>
        <p:spPr>
          <a:xfrm>
            <a:off x="6451600" y="3014133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2" name="Item 1-1"/>
          <p:cNvSpPr/>
          <p:nvPr/>
        </p:nvSpPr>
        <p:spPr>
          <a:xfrm>
            <a:off x="6654800" y="2937933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Diabetes, alcoholism and disability: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did not meet the practical relevance criterion set in the analysis.</a:t>
            </a:r>
          </a:p>
        </p:txBody>
      </p:sp>
      <p:sp>
        <p:nvSpPr>
          <p:cNvPr id="44" name="Dot 1-2"/>
          <p:cNvSpPr/>
          <p:nvPr/>
        </p:nvSpPr>
        <p:spPr>
          <a:xfrm>
            <a:off x="6451600" y="3539067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5" name="Item 1-2"/>
          <p:cNvSpPr/>
          <p:nvPr/>
        </p:nvSpPr>
        <p:spPr>
          <a:xfrm>
            <a:off x="6654800" y="3462867"/>
            <a:ext cx="4851400" cy="499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Concentration in one or two groups: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hypothesis rejected under the adopted criterion.</a:t>
            </a:r>
          </a:p>
        </p:txBody>
      </p:sp>
      <p:sp>
        <p:nvSpPr>
          <p:cNvPr id="47" name="Dot 1-3"/>
          <p:cNvSpPr/>
          <p:nvPr/>
        </p:nvSpPr>
        <p:spPr>
          <a:xfrm>
            <a:off x="6451600" y="4064000"/>
            <a:ext cx="101600" cy="101600"/>
          </a:xfrm>
          <a:prstGeom prst="ellipse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8" name="Item 1-3"/>
          <p:cNvSpPr/>
          <p:nvPr/>
        </p:nvSpPr>
        <p:spPr>
          <a:xfrm>
            <a:off x="6654800" y="3987800"/>
            <a:ext cx="4851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SMS without controlling for lead time: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the raw comparison is potentially biased; it should not be used alone to assess the effect of the message.</a:t>
            </a:r>
          </a:p>
        </p:txBody>
      </p:sp>
      <p:sp>
        <p:nvSpPr>
          <p:cNvPr id="49" name="Decision"/>
          <p:cNvSpPr/>
          <p:nvPr/>
        </p:nvSpPr>
        <p:spPr>
          <a:xfrm>
            <a:off x="457200" y="5867400"/>
            <a:ext cx="11277600" cy="609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0" name="Decision bar"/>
          <p:cNvSpPr/>
          <p:nvPr/>
        </p:nvSpPr>
        <p:spPr>
          <a:xfrm>
            <a:off x="457200" y="5867400"/>
            <a:ext cx="38100" cy="6096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1" name="Decision label"/>
          <p:cNvSpPr/>
          <p:nvPr/>
        </p:nvSpPr>
        <p:spPr>
          <a:xfrm>
            <a:off x="711200" y="58674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DECISION</a:t>
            </a:r>
          </a:p>
        </p:txBody>
      </p:sp>
      <p:sp>
        <p:nvSpPr>
          <p:cNvPr id="52" name="Decision text"/>
          <p:cNvSpPr/>
          <p:nvPr/>
        </p:nvSpPr>
        <p:spPr>
          <a:xfrm>
            <a:off x="2489200" y="5867400"/>
            <a:ext cx="904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FFFFFF"/>
                </a:solidFill>
                <a:latin typeface="Georgia"/>
              </a:rPr>
              <a:t>Test a </a:t>
            </a:r>
            <a:r>
              <a:rPr lang="en-US" sz="1600" b="1" i="1" dirty="0">
                <a:solidFill>
                  <a:srgbClr val="E3A12F"/>
                </a:solidFill>
                <a:latin typeface="Georgia"/>
              </a:rPr>
              <a:t>communication intervention</a:t>
            </a:r>
            <a:r>
              <a:rPr lang="en-US" sz="1600" i="1" dirty="0">
                <a:solidFill>
                  <a:srgbClr val="FFFFFF"/>
                </a:solidFill>
                <a:latin typeface="Georgia"/>
              </a:rPr>
              <a:t> before scaling up more complex actions.</a:t>
            </a:r>
          </a:p>
        </p:txBody>
      </p:sp>
    </p:spTree>
    <p:extLst>
      <p:ext uri="{BB962C8B-B14F-4D97-AF65-F5344CB8AC3E}">
        <p14:creationId xmlns:p14="http://schemas.microsoft.com/office/powerpoint/2010/main" val="429167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PRIORITIZATION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Prioritize communication, then test other actions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0922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Solutions should act at different stages of the booking journey</a:t>
            </a:r>
          </a:p>
        </p:txBody>
      </p:sp>
      <p:sp>
        <p:nvSpPr>
          <p:cNvPr id="15" name="Stage 1"/>
          <p:cNvSpPr/>
          <p:nvPr/>
        </p:nvSpPr>
        <p:spPr>
          <a:xfrm>
            <a:off x="457200" y="1473200"/>
            <a:ext cx="357293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1  </a:t>
            </a:r>
            <a:r>
              <a:rPr lang="en-US" sz="1000" b="1" spc="0" dirty="0">
                <a:solidFill>
                  <a:srgbClr val="5E6B78"/>
                </a:solidFill>
                <a:latin typeface="Segoe UI"/>
              </a:rPr>
              <a:t>BEFORE THE APPOINTMENT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Reduce no-shows</a:t>
            </a:r>
          </a:p>
        </p:txBody>
      </p:sp>
      <p:sp>
        <p:nvSpPr>
          <p:cNvPr id="16" name="Chevron 0"/>
          <p:cNvSpPr/>
          <p:nvPr/>
        </p:nvSpPr>
        <p:spPr>
          <a:xfrm>
            <a:off x="4080933" y="3175000"/>
            <a:ext cx="177800" cy="254000"/>
          </a:xfrm>
          <a:prstGeom prst="chevron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Card 1"/>
          <p:cNvSpPr/>
          <p:nvPr/>
        </p:nvSpPr>
        <p:spPr>
          <a:xfrm>
            <a:off x="457200" y="2032000"/>
            <a:ext cx="3572933" cy="2540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Card bar 1"/>
          <p:cNvSpPr/>
          <p:nvPr/>
        </p:nvSpPr>
        <p:spPr>
          <a:xfrm>
            <a:off x="457200" y="2032000"/>
            <a:ext cx="3572933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Badge 1"/>
          <p:cNvSpPr/>
          <p:nvPr/>
        </p:nvSpPr>
        <p:spPr>
          <a:xfrm>
            <a:off x="685800" y="2235200"/>
            <a:ext cx="1320800" cy="254000"/>
          </a:xfrm>
          <a:prstGeom prst="round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232323"/>
                </a:solidFill>
                <a:latin typeface="Segoe UI"/>
              </a:rPr>
              <a:t>PRIORITY 1</a:t>
            </a:r>
          </a:p>
        </p:txBody>
      </p:sp>
      <p:sp>
        <p:nvSpPr>
          <p:cNvPr id="20" name="Init 1"/>
          <p:cNvSpPr/>
          <p:nvPr/>
        </p:nvSpPr>
        <p:spPr>
          <a:xfrm>
            <a:off x="685800" y="2616200"/>
            <a:ext cx="3115733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Georgia"/>
              </a:rPr>
              <a:t>SMS with active confirmation</a:t>
            </a:r>
          </a:p>
        </p:txBody>
      </p:sp>
      <p:sp>
        <p:nvSpPr>
          <p:cNvPr id="21" name="Bullets 1"/>
          <p:cNvSpPr/>
          <p:nvPr/>
        </p:nvSpPr>
        <p:spPr>
          <a:xfrm>
            <a:off x="685800" y="3073400"/>
            <a:ext cx="3115733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105000"/>
              </a:lnSpc>
              <a:spcBef>
                <a:spcPts val="0"/>
              </a:spcBef>
              <a:buClr>
                <a:srgbClr val="E3A12F"/>
              </a:buClr>
              <a:buFont typeface="Arial"/>
              <a:buChar char="•"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Send a message asking the patient to confirm or cancel.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E3A12F"/>
              </a:buClr>
              <a:buFont typeface="Arial"/>
              <a:buChar char="•"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Initial pilot with appointments booked 4 or more days ahead.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E3A12F"/>
              </a:buClr>
              <a:buFont typeface="Arial"/>
              <a:buChar char="•"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Measure the effect against a control group.</a:t>
            </a:r>
          </a:p>
        </p:txBody>
      </p:sp>
      <p:sp>
        <p:nvSpPr>
          <p:cNvPr id="22" name="Stage 2"/>
          <p:cNvSpPr/>
          <p:nvPr/>
        </p:nvSpPr>
        <p:spPr>
          <a:xfrm>
            <a:off x="4309533" y="1473200"/>
            <a:ext cx="357293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2  </a:t>
            </a:r>
            <a:r>
              <a:rPr lang="en-US" sz="1000" b="1" spc="0" dirty="0">
                <a:solidFill>
                  <a:srgbClr val="5E6B78"/>
                </a:solidFill>
                <a:latin typeface="Segoe UI"/>
              </a:rPr>
              <a:t>WHEN THE PATIENT CANNOT ATTEND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Recover the slot</a:t>
            </a:r>
          </a:p>
        </p:txBody>
      </p:sp>
      <p:sp>
        <p:nvSpPr>
          <p:cNvPr id="23" name="Chevron 1"/>
          <p:cNvSpPr/>
          <p:nvPr/>
        </p:nvSpPr>
        <p:spPr>
          <a:xfrm>
            <a:off x="7933267" y="3175000"/>
            <a:ext cx="177800" cy="254000"/>
          </a:xfrm>
          <a:prstGeom prst="chevron">
            <a:avLst/>
          </a:prstGeom>
          <a:solidFill>
            <a:srgbClr val="B8BE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Card 2"/>
          <p:cNvSpPr/>
          <p:nvPr/>
        </p:nvSpPr>
        <p:spPr>
          <a:xfrm>
            <a:off x="4309533" y="2032000"/>
            <a:ext cx="3572933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Card bar 2"/>
          <p:cNvSpPr/>
          <p:nvPr/>
        </p:nvSpPr>
        <p:spPr>
          <a:xfrm>
            <a:off x="4309533" y="2032000"/>
            <a:ext cx="3572933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adge 2"/>
          <p:cNvSpPr/>
          <p:nvPr/>
        </p:nvSpPr>
        <p:spPr>
          <a:xfrm>
            <a:off x="4538133" y="2235200"/>
            <a:ext cx="1320800" cy="25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5E6B78"/>
                </a:solidFill>
                <a:latin typeface="Segoe UI"/>
              </a:rPr>
              <a:t>PRIORITY 2</a:t>
            </a:r>
          </a:p>
        </p:txBody>
      </p:sp>
      <p:sp>
        <p:nvSpPr>
          <p:cNvPr id="27" name="Init 2"/>
          <p:cNvSpPr/>
          <p:nvPr/>
        </p:nvSpPr>
        <p:spPr>
          <a:xfrm>
            <a:off x="4538133" y="2616200"/>
            <a:ext cx="3115733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32323"/>
                </a:solidFill>
                <a:latin typeface="Georgia"/>
              </a:rPr>
              <a:t>Waiting list</a:t>
            </a:r>
          </a:p>
        </p:txBody>
      </p:sp>
      <p:sp>
        <p:nvSpPr>
          <p:cNvPr id="28" name="Bullets 2"/>
          <p:cNvSpPr/>
          <p:nvPr/>
        </p:nvSpPr>
        <p:spPr>
          <a:xfrm>
            <a:off x="4538133" y="3073400"/>
            <a:ext cx="3115733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105000"/>
              </a:lnSpc>
              <a:spcBef>
                <a:spcPts val="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Contact available patients when there is a cancellation.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Prioritize by clinical and operational criteria.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Measure how many freed-up slots are filled.</a:t>
            </a:r>
          </a:p>
        </p:txBody>
      </p:sp>
      <p:sp>
        <p:nvSpPr>
          <p:cNvPr id="29" name="Stage 3"/>
          <p:cNvSpPr/>
          <p:nvPr/>
        </p:nvSpPr>
        <p:spPr>
          <a:xfrm>
            <a:off x="8161867" y="1473200"/>
            <a:ext cx="357293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3  </a:t>
            </a:r>
            <a:r>
              <a:rPr lang="en-US" sz="1000" b="1" spc="0" dirty="0">
                <a:solidFill>
                  <a:srgbClr val="5E6B78"/>
                </a:solidFill>
                <a:latin typeface="Segoe UI"/>
              </a:rPr>
              <a:t>PATIENTS WITH A NO-SHOW HISTORY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Test additional contact</a:t>
            </a:r>
          </a:p>
        </p:txBody>
      </p:sp>
      <p:sp>
        <p:nvSpPr>
          <p:cNvPr id="30" name="Card 3"/>
          <p:cNvSpPr/>
          <p:nvPr/>
        </p:nvSpPr>
        <p:spPr>
          <a:xfrm>
            <a:off x="8161867" y="2032000"/>
            <a:ext cx="3572933" cy="25400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Card bar 3"/>
          <p:cNvSpPr/>
          <p:nvPr/>
        </p:nvSpPr>
        <p:spPr>
          <a:xfrm>
            <a:off x="8161867" y="2032000"/>
            <a:ext cx="3572933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Badge 3"/>
          <p:cNvSpPr/>
          <p:nvPr/>
        </p:nvSpPr>
        <p:spPr>
          <a:xfrm>
            <a:off x="8390467" y="2235200"/>
            <a:ext cx="1320800" cy="25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5E6B78"/>
                </a:solidFill>
                <a:latin typeface="Segoe UI"/>
              </a:rPr>
              <a:t>PRIORITY 3</a:t>
            </a:r>
          </a:p>
        </p:txBody>
      </p:sp>
      <p:sp>
        <p:nvSpPr>
          <p:cNvPr id="33" name="Init 3"/>
          <p:cNvSpPr/>
          <p:nvPr/>
        </p:nvSpPr>
        <p:spPr>
          <a:xfrm>
            <a:off x="8390467" y="2616200"/>
            <a:ext cx="3115733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232323"/>
                </a:solidFill>
                <a:latin typeface="Georgia"/>
              </a:rPr>
              <a:t>Targeted reminder</a:t>
            </a:r>
          </a:p>
        </p:txBody>
      </p:sp>
      <p:sp>
        <p:nvSpPr>
          <p:cNvPr id="34" name="Bullets 3"/>
          <p:cNvSpPr/>
          <p:nvPr/>
        </p:nvSpPr>
        <p:spPr>
          <a:xfrm>
            <a:off x="8390467" y="3073400"/>
            <a:ext cx="3115733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105000"/>
              </a:lnSpc>
              <a:spcBef>
                <a:spcPts val="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Additional contact for patients with a recorded prior no-show.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Test with a control group.</a:t>
            </a:r>
          </a:p>
          <a:p>
            <a:pPr marL="152400" indent="-152400" algn="l">
              <a:lnSpc>
                <a:spcPct val="105000"/>
              </a:lnSpc>
              <a:spcBef>
                <a:spcPts val="600"/>
              </a:spcBef>
              <a:buClr>
                <a:srgbClr val="C0623A"/>
              </a:buClr>
              <a:buFont typeface="Arial"/>
              <a:buChar char="•"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Measure the reduction in no-shows and the cost per no-show avoided.</a:t>
            </a:r>
          </a:p>
        </p:txBody>
      </p:sp>
      <p:sp>
        <p:nvSpPr>
          <p:cNvPr id="35" name="Transversal"/>
          <p:cNvSpPr/>
          <p:nvPr/>
        </p:nvSpPr>
        <p:spPr>
          <a:xfrm>
            <a:off x="457200" y="4800600"/>
            <a:ext cx="112776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5B1"/>
            </a:solidFill>
            <a:prstDash val="dash"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Trans label"/>
          <p:cNvSpPr/>
          <p:nvPr/>
        </p:nvSpPr>
        <p:spPr>
          <a:xfrm>
            <a:off x="660400" y="48006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4  </a:t>
            </a:r>
            <a:r>
              <a:rPr lang="en-US" sz="1000" b="1" spc="100" dirty="0">
                <a:solidFill>
                  <a:srgbClr val="5E6B78"/>
                </a:solidFill>
                <a:latin typeface="Segoe UI"/>
              </a:rPr>
              <a:t>INVESTIGATION TRACK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232323"/>
                </a:solidFill>
                <a:latin typeface="Segoe UI"/>
              </a:rPr>
              <a:t>Differences between neighborhoods</a:t>
            </a:r>
          </a:p>
        </p:txBody>
      </p:sp>
      <p:sp>
        <p:nvSpPr>
          <p:cNvPr id="37" name="Trans text"/>
          <p:cNvSpPr/>
          <p:nvPr/>
        </p:nvSpPr>
        <p:spPr>
          <a:xfrm>
            <a:off x="3810000" y="4800600"/>
            <a:ext cx="7569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Assess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SMS coverage, access, transport and communication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and validate the possible explanations before proposing specific interventions.</a:t>
            </a:r>
          </a:p>
        </p:txBody>
      </p:sp>
      <p:sp>
        <p:nvSpPr>
          <p:cNvPr id="38" name="Reco"/>
          <p:cNvSpPr/>
          <p:nvPr/>
        </p:nvSpPr>
        <p:spPr>
          <a:xfrm>
            <a:off x="457200" y="5588000"/>
            <a:ext cx="11277600" cy="736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Reco bar"/>
          <p:cNvSpPr/>
          <p:nvPr/>
        </p:nvSpPr>
        <p:spPr>
          <a:xfrm>
            <a:off x="457200" y="5588000"/>
            <a:ext cx="38100" cy="7366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0" name="Reco text"/>
          <p:cNvSpPr/>
          <p:nvPr/>
        </p:nvSpPr>
        <p:spPr>
          <a:xfrm>
            <a:off x="685800" y="5588000"/>
            <a:ext cx="711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E3A12F"/>
                </a:solidFill>
                <a:latin typeface="Segoe UI"/>
              </a:rPr>
              <a:t>RECOMMENDATION   </a:t>
            </a:r>
            <a:r>
              <a:rPr lang="en-US" sz="1300" dirty="0">
                <a:solidFill>
                  <a:srgbClr val="FFFFFF"/>
                </a:solidFill>
                <a:latin typeface="Segoe UI"/>
              </a:rPr>
              <a:t>Start with the </a:t>
            </a:r>
            <a:r>
              <a:rPr lang="en-US" sz="1300" b="1" dirty="0">
                <a:solidFill>
                  <a:srgbClr val="E3A12F"/>
                </a:solidFill>
                <a:latin typeface="Segoe UI"/>
              </a:rPr>
              <a:t>SMS pilot with active confirmation</a:t>
            </a:r>
            <a:r>
              <a:rPr lang="en-US" sz="1300" dirty="0">
                <a:solidFill>
                  <a:srgbClr val="FFFFFF"/>
                </a:solidFill>
                <a:latin typeface="Segoe UI"/>
              </a:rPr>
              <a:t>. The other initiatives should be assessed in parallel or in later stages, depending on the operational data available.</a:t>
            </a:r>
          </a:p>
        </p:txBody>
      </p:sp>
      <p:sp>
        <p:nvSpPr>
          <p:cNvPr id="41" name="Reco div"/>
          <p:cNvSpPr/>
          <p:nvPr/>
        </p:nvSpPr>
        <p:spPr>
          <a:xfrm>
            <a:off x="8026400" y="5715000"/>
            <a:ext cx="12700" cy="4826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2" name="Criterio"/>
          <p:cNvSpPr/>
          <p:nvPr/>
        </p:nvSpPr>
        <p:spPr>
          <a:xfrm>
            <a:off x="8229600" y="5588000"/>
            <a:ext cx="3352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00" b="1" spc="100" dirty="0">
                <a:solidFill>
                  <a:srgbClr val="BDBDBD"/>
                </a:solidFill>
                <a:latin typeface="Segoe UI"/>
              </a:rPr>
              <a:t>PRIORITIZATION CRITERION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E6E6E6"/>
                </a:solidFill>
                <a:latin typeface="Segoe UI"/>
              </a:rPr>
              <a:t>Evidence, impact, operational effort, cost and feasibility.</a:t>
            </a:r>
          </a:p>
        </p:txBody>
      </p:sp>
    </p:spTree>
    <p:extLst>
      <p:ext uri="{BB962C8B-B14F-4D97-AF65-F5344CB8AC3E}">
        <p14:creationId xmlns:p14="http://schemas.microsoft.com/office/powerpoint/2010/main" val="1909387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RECOMMENDATION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323"/>
                </a:solidFill>
                <a:latin typeface="Georgia"/>
              </a:rPr>
              <a:t>Test SMS with active confirmation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457200" y="1270000"/>
            <a:ext cx="11277600" cy="0"/>
          </a:xfrm>
          <a:prstGeom prst="line">
            <a:avLst/>
          </a:prstGeom>
          <a:ln w="9525">
            <a:solidFill>
              <a:srgbClr val="D9D9D6"/>
            </a:solidFill>
          </a:ln>
        </p:spPr>
      </p:cxnSp>
      <p:sp>
        <p:nvSpPr>
          <p:cNvPr id="15" name="Why card"/>
          <p:cNvSpPr/>
          <p:nvPr/>
        </p:nvSpPr>
        <p:spPr>
          <a:xfrm>
            <a:off x="457200" y="1473200"/>
            <a:ext cx="5207000" cy="35306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6" name="Why bar"/>
          <p:cNvSpPr/>
          <p:nvPr/>
        </p:nvSpPr>
        <p:spPr>
          <a:xfrm>
            <a:off x="457200" y="1473200"/>
            <a:ext cx="5207000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Why label"/>
          <p:cNvSpPr/>
          <p:nvPr/>
        </p:nvSpPr>
        <p:spPr>
          <a:xfrm>
            <a:off x="736600" y="1727200"/>
            <a:ext cx="4648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WHY PRIORITIZE IT?</a:t>
            </a:r>
          </a:p>
        </p:txBody>
      </p:sp>
      <p:sp>
        <p:nvSpPr>
          <p:cNvPr id="18" name="Why number"/>
          <p:cNvSpPr/>
          <p:nvPr/>
        </p:nvSpPr>
        <p:spPr>
          <a:xfrm>
            <a:off x="736600" y="2082800"/>
            <a:ext cx="464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3.1 to 7.3 p.p.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BDBDBD"/>
                </a:solidFill>
                <a:latin typeface="Segoe UI"/>
              </a:rPr>
              <a:t>fewer no-shows with SMS in groups of 4 days or more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736600" y="2895600"/>
            <a:ext cx="4648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0" name="Why 1"/>
          <p:cNvSpPr/>
          <p:nvPr/>
        </p:nvSpPr>
        <p:spPr>
          <a:xfrm>
            <a:off x="736600" y="29972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9D9D9"/>
                </a:solidFill>
                <a:latin typeface="Segoe UI"/>
              </a:rPr>
              <a:t>Appointments with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longer lead times</a:t>
            </a:r>
            <a:r>
              <a:rPr lang="en-US" sz="1300" dirty="0">
                <a:solidFill>
                  <a:srgbClr val="D9D9D9"/>
                </a:solidFill>
                <a:latin typeface="Segoe UI"/>
              </a:rPr>
              <a:t> have higher no-show rates.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736600" y="3479800"/>
            <a:ext cx="4648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2" name="Why 2"/>
          <p:cNvSpPr/>
          <p:nvPr/>
        </p:nvSpPr>
        <p:spPr>
          <a:xfrm>
            <a:off x="736600" y="358140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9D9D9"/>
                </a:solidFill>
                <a:latin typeface="Segoe UI"/>
              </a:rPr>
              <a:t>Within groups of 4 days or more, appointments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with an SMS</a:t>
            </a:r>
            <a:r>
              <a:rPr lang="en-US" sz="1300" dirty="0">
                <a:solidFill>
                  <a:srgbClr val="D9D9D9"/>
                </a:solidFill>
                <a:latin typeface="Segoe UI"/>
              </a:rPr>
              <a:t> had no-show rates 3.1 to 7.3 percentage points lower.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736600" y="4241800"/>
            <a:ext cx="4648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4" name="Why 3"/>
          <p:cNvSpPr/>
          <p:nvPr/>
        </p:nvSpPr>
        <p:spPr>
          <a:xfrm>
            <a:off x="736600" y="43434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9D9D9"/>
                </a:solidFill>
                <a:latin typeface="Segoe UI"/>
              </a:rPr>
              <a:t>The observed association </a:t>
            </a:r>
            <a:r>
              <a:rPr lang="en-US" sz="1300" b="1" dirty="0">
                <a:solidFill>
                  <a:srgbClr val="FFFFFF"/>
                </a:solidFill>
                <a:latin typeface="Segoe UI"/>
              </a:rPr>
              <a:t>justifies a test</a:t>
            </a:r>
            <a:r>
              <a:rPr lang="en-US" sz="1300" dirty="0">
                <a:solidFill>
                  <a:srgbClr val="D9D9D9"/>
                </a:solidFill>
                <a:latin typeface="Segoe UI"/>
              </a:rPr>
              <a:t>, but does not yet prove a causal effect.</a:t>
            </a:r>
          </a:p>
        </p:txBody>
      </p:sp>
      <p:sp>
        <p:nvSpPr>
          <p:cNvPr id="25" name="How label"/>
          <p:cNvSpPr/>
          <p:nvPr/>
        </p:nvSpPr>
        <p:spPr>
          <a:xfrm>
            <a:off x="6019800" y="1727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5E6B78"/>
                </a:solidFill>
                <a:latin typeface="Segoe UI"/>
              </a:rPr>
              <a:t>HOW TO VALIDATE?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6197600" y="2336800"/>
            <a:ext cx="0" cy="2184400"/>
          </a:xfrm>
          <a:prstGeom prst="line">
            <a:avLst/>
          </a:prstGeom>
          <a:ln w="19050">
            <a:solidFill>
              <a:srgbClr val="C9CDD2"/>
            </a:solidFill>
          </a:ln>
        </p:spPr>
      </p:cxnSp>
      <p:sp>
        <p:nvSpPr>
          <p:cNvPr id="27" name="Num 1"/>
          <p:cNvSpPr/>
          <p:nvPr/>
        </p:nvSpPr>
        <p:spPr>
          <a:xfrm>
            <a:off x="6019800" y="2159000"/>
            <a:ext cx="355600" cy="355600"/>
          </a:xfrm>
          <a:prstGeom prst="ellipse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How 1"/>
          <p:cNvSpPr/>
          <p:nvPr/>
        </p:nvSpPr>
        <p:spPr>
          <a:xfrm>
            <a:off x="6578600" y="21590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Controlled pilot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Run a pilot with an intervention group and a comparable control group.</a:t>
            </a:r>
          </a:p>
        </p:txBody>
      </p:sp>
      <p:sp>
        <p:nvSpPr>
          <p:cNvPr id="29" name="Num 2"/>
          <p:cNvSpPr/>
          <p:nvPr/>
        </p:nvSpPr>
        <p:spPr>
          <a:xfrm>
            <a:off x="6019800" y="2971800"/>
            <a:ext cx="355600" cy="3556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0" name="How 2"/>
          <p:cNvSpPr/>
          <p:nvPr/>
        </p:nvSpPr>
        <p:spPr>
          <a:xfrm>
            <a:off x="6578600" y="29718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Rules set in advance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Define the duration, eligible population and success target beforehand.</a:t>
            </a:r>
          </a:p>
        </p:txBody>
      </p:sp>
      <p:sp>
        <p:nvSpPr>
          <p:cNvPr id="31" name="Num 3"/>
          <p:cNvSpPr/>
          <p:nvPr/>
        </p:nvSpPr>
        <p:spPr>
          <a:xfrm>
            <a:off x="6019800" y="3657600"/>
            <a:ext cx="355600" cy="3556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How 3"/>
          <p:cNvSpPr/>
          <p:nvPr/>
        </p:nvSpPr>
        <p:spPr>
          <a:xfrm>
            <a:off x="6578600" y="36576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Comparison between groups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Compare no-show rates between the groups.</a:t>
            </a:r>
          </a:p>
        </p:txBody>
      </p:sp>
      <p:sp>
        <p:nvSpPr>
          <p:cNvPr id="33" name="Num 4"/>
          <p:cNvSpPr/>
          <p:nvPr/>
        </p:nvSpPr>
        <p:spPr>
          <a:xfrm>
            <a:off x="6019800" y="4343400"/>
            <a:ext cx="355600" cy="355600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How 4"/>
          <p:cNvSpPr/>
          <p:nvPr/>
        </p:nvSpPr>
        <p:spPr>
          <a:xfrm>
            <a:off x="6578600" y="4343400"/>
            <a:ext cx="515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Full evaluation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Assess costs, responses, early cancellations and reused slots.</a:t>
            </a:r>
          </a:p>
        </p:txBody>
      </p:sp>
      <p:sp>
        <p:nvSpPr>
          <p:cNvPr id="35" name="Decision"/>
          <p:cNvSpPr/>
          <p:nvPr/>
        </p:nvSpPr>
        <p:spPr>
          <a:xfrm>
            <a:off x="457200" y="5334000"/>
            <a:ext cx="11277600" cy="83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6" name="Decision bar"/>
          <p:cNvSpPr/>
          <p:nvPr/>
        </p:nvSpPr>
        <p:spPr>
          <a:xfrm>
            <a:off x="457200" y="5334000"/>
            <a:ext cx="38100" cy="8382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7" name="Decision text"/>
          <p:cNvSpPr/>
          <p:nvPr/>
        </p:nvSpPr>
        <p:spPr>
          <a:xfrm>
            <a:off x="711200" y="53340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150" dirty="0">
                <a:solidFill>
                  <a:srgbClr val="C0623A"/>
                </a:solidFill>
                <a:latin typeface="Segoe UI"/>
              </a:rPr>
              <a:t>EXPECTED DECISION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232323"/>
                </a:solidFill>
                <a:latin typeface="Segoe UI"/>
              </a:rPr>
              <a:t>Scale up, adjust or stop the initiative based on the results.</a:t>
            </a:r>
          </a:p>
        </p:txBody>
      </p:sp>
      <p:sp>
        <p:nvSpPr>
          <p:cNvPr id="38" name="Chip Ampliar"/>
          <p:cNvSpPr/>
          <p:nvPr/>
        </p:nvSpPr>
        <p:spPr>
          <a:xfrm>
            <a:off x="4826000" y="5511800"/>
            <a:ext cx="2133600" cy="48260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Segoe UI"/>
              </a:rPr>
              <a:t>Scale up</a:t>
            </a:r>
          </a:p>
        </p:txBody>
      </p:sp>
      <p:sp>
        <p:nvSpPr>
          <p:cNvPr id="39" name="Chip Ajustar"/>
          <p:cNvSpPr/>
          <p:nvPr/>
        </p:nvSpPr>
        <p:spPr>
          <a:xfrm>
            <a:off x="7112000" y="5511800"/>
            <a:ext cx="21336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Adjust</a:t>
            </a:r>
          </a:p>
        </p:txBody>
      </p:sp>
      <p:sp>
        <p:nvSpPr>
          <p:cNvPr id="40" name="Chip Interromper"/>
          <p:cNvSpPr/>
          <p:nvPr/>
        </p:nvSpPr>
        <p:spPr>
          <a:xfrm>
            <a:off x="9398000" y="5511800"/>
            <a:ext cx="21336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Stop</a:t>
            </a:r>
          </a:p>
        </p:txBody>
      </p:sp>
      <p:sp>
        <p:nvSpPr>
          <p:cNvPr id="41" name="Note"/>
          <p:cNvSpPr/>
          <p:nvPr/>
        </p:nvSpPr>
        <p:spPr>
          <a:xfrm>
            <a:off x="457200" y="6350000"/>
            <a:ext cx="11277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The pilot is a proposal. The real effect, cost and reduction target still need to be validated.</a:t>
            </a:r>
          </a:p>
        </p:txBody>
      </p:sp>
    </p:spTree>
    <p:extLst>
      <p:ext uri="{BB962C8B-B14F-4D97-AF65-F5344CB8AC3E}">
        <p14:creationId xmlns:p14="http://schemas.microsoft.com/office/powerpoint/2010/main" val="1648720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NEXT STEPS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323"/>
                </a:solidFill>
                <a:latin typeface="Georgia"/>
              </a:rPr>
              <a:t>Validate the impact before scaling up the initiatives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1684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B6B6B"/>
                </a:solidFill>
                <a:latin typeface="Segoe UI"/>
              </a:rPr>
              <a:t>Three next steps to turn findings into results</a:t>
            </a:r>
          </a:p>
        </p:txBody>
      </p:sp>
      <p:sp>
        <p:nvSpPr>
          <p:cNvPr id="15" name="Chevron 01"/>
          <p:cNvSpPr/>
          <p:nvPr/>
        </p:nvSpPr>
        <p:spPr>
          <a:xfrm>
            <a:off x="457200" y="1778000"/>
            <a:ext cx="3623733" cy="660400"/>
          </a:xfrm>
          <a:prstGeom prst="homePlate">
            <a:avLst>
              <a:gd name="adj" fmla="val 30000"/>
            </a:avLst>
          </a:prstGeom>
          <a:solidFill>
            <a:srgbClr val="9AA5B1"/>
          </a:solidFill>
          <a:ln>
            <a:noFill/>
          </a:ln>
        </p:spPr>
        <p:txBody>
          <a:bodyPr wrap="square" lIns="254000" tIns="0" rIns="2540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01  </a:t>
            </a:r>
            <a:r>
              <a:rPr lang="en-US" sz="1600" b="1" spc="200" dirty="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16" name="Block bar 01"/>
          <p:cNvSpPr/>
          <p:nvPr/>
        </p:nvSpPr>
        <p:spPr>
          <a:xfrm>
            <a:off x="457200" y="2641600"/>
            <a:ext cx="3623733" cy="508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7" name="Block 01"/>
          <p:cNvSpPr/>
          <p:nvPr/>
        </p:nvSpPr>
        <p:spPr>
          <a:xfrm>
            <a:off x="457200" y="2692400"/>
            <a:ext cx="3623733" cy="210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Block text 01"/>
          <p:cNvSpPr/>
          <p:nvPr/>
        </p:nvSpPr>
        <p:spPr>
          <a:xfrm>
            <a:off x="711200" y="2921000"/>
            <a:ext cx="3115733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Validate the current scenario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Update the analysis with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recent data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and confirm whether the no-show patterns persist.</a:t>
            </a:r>
          </a:p>
        </p:txBody>
      </p:sp>
      <p:sp>
        <p:nvSpPr>
          <p:cNvPr id="19" name="Chevron 02"/>
          <p:cNvSpPr/>
          <p:nvPr/>
        </p:nvSpPr>
        <p:spPr>
          <a:xfrm>
            <a:off x="4284133" y="1778000"/>
            <a:ext cx="3623733" cy="660400"/>
          </a:xfrm>
          <a:prstGeom prst="chevron">
            <a:avLst>
              <a:gd name="adj" fmla="val 30000"/>
            </a:avLst>
          </a:prstGeom>
          <a:solidFill>
            <a:srgbClr val="5E6B78"/>
          </a:solidFill>
          <a:ln>
            <a:noFill/>
          </a:ln>
        </p:spPr>
        <p:txBody>
          <a:bodyPr wrap="square" lIns="431800" tIns="0" rIns="4318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02  </a:t>
            </a:r>
            <a:r>
              <a:rPr lang="en-US" sz="1600" b="1" spc="200" dirty="0">
                <a:solidFill>
                  <a:srgbClr val="FFFFFF"/>
                </a:solidFill>
                <a:latin typeface="Segoe UI"/>
              </a:rPr>
              <a:t>TEST</a:t>
            </a:r>
          </a:p>
        </p:txBody>
      </p:sp>
      <p:sp>
        <p:nvSpPr>
          <p:cNvPr id="20" name="Block bar 02"/>
          <p:cNvSpPr/>
          <p:nvPr/>
        </p:nvSpPr>
        <p:spPr>
          <a:xfrm>
            <a:off x="4284133" y="2641600"/>
            <a:ext cx="3623733" cy="508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Block 02"/>
          <p:cNvSpPr/>
          <p:nvPr/>
        </p:nvSpPr>
        <p:spPr>
          <a:xfrm>
            <a:off x="4284133" y="2692400"/>
            <a:ext cx="3623733" cy="210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Block text 02"/>
          <p:cNvSpPr/>
          <p:nvPr/>
        </p:nvSpPr>
        <p:spPr>
          <a:xfrm>
            <a:off x="4538133" y="2921000"/>
            <a:ext cx="3115733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Test the main recommendation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Run an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SMS pilot with active confirmation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comparing the results with a control group.</a:t>
            </a:r>
          </a:p>
        </p:txBody>
      </p:sp>
      <p:sp>
        <p:nvSpPr>
          <p:cNvPr id="23" name="Chevron 03"/>
          <p:cNvSpPr/>
          <p:nvPr/>
        </p:nvSpPr>
        <p:spPr>
          <a:xfrm>
            <a:off x="8111067" y="1778000"/>
            <a:ext cx="3623733" cy="660400"/>
          </a:xfrm>
          <a:prstGeom prst="chevron">
            <a:avLst>
              <a:gd name="adj" fmla="val 30000"/>
            </a:avLst>
          </a:prstGeom>
          <a:solidFill>
            <a:srgbClr val="C0623A"/>
          </a:solidFill>
          <a:ln>
            <a:noFill/>
          </a:ln>
        </p:spPr>
        <p:txBody>
          <a:bodyPr wrap="square" lIns="431800" tIns="0" rIns="4318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03  </a:t>
            </a:r>
            <a:r>
              <a:rPr lang="en-US" sz="1600" b="1" spc="200" dirty="0">
                <a:solidFill>
                  <a:srgbClr val="FFFFFF"/>
                </a:solidFill>
                <a:latin typeface="Segoe UI"/>
              </a:rPr>
              <a:t>DECIDE</a:t>
            </a:r>
          </a:p>
        </p:txBody>
      </p:sp>
      <p:sp>
        <p:nvSpPr>
          <p:cNvPr id="24" name="Block bar 03"/>
          <p:cNvSpPr/>
          <p:nvPr/>
        </p:nvSpPr>
        <p:spPr>
          <a:xfrm>
            <a:off x="8111067" y="2641600"/>
            <a:ext cx="3623733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Block 03"/>
          <p:cNvSpPr/>
          <p:nvPr/>
        </p:nvSpPr>
        <p:spPr>
          <a:xfrm>
            <a:off x="8111067" y="2692400"/>
            <a:ext cx="3623733" cy="2108200"/>
          </a:xfrm>
          <a:prstGeom prst="rect">
            <a:avLst/>
          </a:prstGeom>
          <a:solidFill>
            <a:srgbClr val="F1F1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Block text 03"/>
          <p:cNvSpPr/>
          <p:nvPr/>
        </p:nvSpPr>
        <p:spPr>
          <a:xfrm>
            <a:off x="8365067" y="2921000"/>
            <a:ext cx="3115733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Decide based on evidence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4A4A4A"/>
                </a:solidFill>
                <a:latin typeface="Segoe UI"/>
              </a:rPr>
              <a:t>Assess the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reduction in no-shows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, the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cost per no-show avoided</a:t>
            </a:r>
            <a:r>
              <a:rPr lang="en-US" sz="1400" dirty="0">
                <a:solidFill>
                  <a:srgbClr val="4A4A4A"/>
                </a:solidFill>
                <a:latin typeface="Segoe UI"/>
              </a:rPr>
              <a:t> and operational feasibility before scaling up the initiative.</a:t>
            </a:r>
          </a:p>
        </p:txBody>
      </p:sp>
      <p:sp>
        <p:nvSpPr>
          <p:cNvPr id="27" name="Decision"/>
          <p:cNvSpPr/>
          <p:nvPr/>
        </p:nvSpPr>
        <p:spPr>
          <a:xfrm>
            <a:off x="457200" y="5130800"/>
            <a:ext cx="11277600" cy="762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Decision bar"/>
          <p:cNvSpPr/>
          <p:nvPr/>
        </p:nvSpPr>
        <p:spPr>
          <a:xfrm>
            <a:off x="457200" y="5130800"/>
            <a:ext cx="38100" cy="7620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9" name="Decision label"/>
          <p:cNvSpPr/>
          <p:nvPr/>
        </p:nvSpPr>
        <p:spPr>
          <a:xfrm>
            <a:off x="736600" y="51308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E3A12F"/>
                </a:solidFill>
                <a:latin typeface="Segoe UI"/>
              </a:rPr>
              <a:t>EXPECTED DECISION</a:t>
            </a:r>
          </a:p>
        </p:txBody>
      </p:sp>
      <p:sp>
        <p:nvSpPr>
          <p:cNvPr id="30" name="Decision text"/>
          <p:cNvSpPr/>
          <p:nvPr/>
        </p:nvSpPr>
        <p:spPr>
          <a:xfrm>
            <a:off x="3149600" y="51308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FFFFFF"/>
                </a:solidFill>
                <a:latin typeface="Georgia"/>
              </a:rPr>
              <a:t>Move forward with the pilot, measure the results and </a:t>
            </a:r>
            <a:r>
              <a:rPr lang="en-US" sz="1600" b="1" i="1" dirty="0">
                <a:solidFill>
                  <a:srgbClr val="E3A12F"/>
                </a:solidFill>
                <a:latin typeface="Georgia"/>
              </a:rPr>
              <a:t>expand only if there is a proven benefit</a:t>
            </a:r>
            <a:r>
              <a:rPr lang="en-US" sz="1600" i="1" dirty="0">
                <a:solidFill>
                  <a:srgbClr val="FFFFFF"/>
                </a:solidFill>
                <a:latin typeface="Georgia"/>
              </a:rPr>
              <a:t>.</a:t>
            </a:r>
          </a:p>
        </p:txBody>
      </p:sp>
      <p:sp>
        <p:nvSpPr>
          <p:cNvPr id="31" name="Note"/>
          <p:cNvSpPr/>
          <p:nvPr/>
        </p:nvSpPr>
        <p:spPr>
          <a:xfrm>
            <a:off x="457200" y="61722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i="1" dirty="0">
                <a:solidFill>
                  <a:srgbClr val="6B6B6B"/>
                </a:solidFill>
                <a:latin typeface="Segoe UI"/>
              </a:rPr>
              <a:t>The data analyzed are from 2016; the current impact needs to be validated.</a:t>
            </a:r>
          </a:p>
        </p:txBody>
      </p:sp>
    </p:spTree>
    <p:extLst>
      <p:ext uri="{BB962C8B-B14F-4D97-AF65-F5344CB8AC3E}">
        <p14:creationId xmlns:p14="http://schemas.microsoft.com/office/powerpoint/2010/main" val="347801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 bar"/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" name="Eyebrow"/>
          <p:cNvSpPr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endParaRPr lang="en-US" sz="1100" b="1" spc="300" dirty="0">
              <a:solidFill>
                <a:srgbClr val="BDBDBD"/>
              </a:solidFill>
              <a:latin typeface="Segoe UI"/>
            </a:endParaRPr>
          </a:p>
        </p:txBody>
      </p:sp>
      <p:sp>
        <p:nvSpPr>
          <p:cNvPr id="13" name="Title"/>
          <p:cNvSpPr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Turning data into action to reduce no-shows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11684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A8A8A8"/>
                </a:solidFill>
                <a:latin typeface="Segoe UI"/>
              </a:rPr>
              <a:t>Lead time is the main risk signal identified; communication is an opportunity to validate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57200" y="1651000"/>
            <a:ext cx="112776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16" name="Stat 1"/>
          <p:cNvSpPr/>
          <p:nvPr/>
        </p:nvSpPr>
        <p:spPr>
          <a:xfrm>
            <a:off x="457200" y="1879600"/>
            <a:ext cx="33528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solidFill>
                  <a:srgbClr val="E07A4F"/>
                </a:solidFill>
                <a:latin typeface="Georgia"/>
              </a:rPr>
              <a:t>20.2%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Historical no-show rate: 22,314 no-shows out of 110,521 appointments.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4064000" y="1905000"/>
            <a:ext cx="0" cy="149860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18" name="Stat 2"/>
          <p:cNvSpPr/>
          <p:nvPr/>
        </p:nvSpPr>
        <p:spPr>
          <a:xfrm>
            <a:off x="4216400" y="1879600"/>
            <a:ext cx="33528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solidFill>
                  <a:srgbClr val="E07A4F"/>
                </a:solidFill>
                <a:latin typeface="Georgia"/>
              </a:rPr>
              <a:t>33.0%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No-show rate for appointments booked 31 or more days ahead.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7823200" y="1905000"/>
            <a:ext cx="0" cy="149860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20" name="Stat 3"/>
          <p:cNvSpPr/>
          <p:nvPr/>
        </p:nvSpPr>
        <p:spPr>
          <a:xfrm>
            <a:off x="7975600" y="1879600"/>
            <a:ext cx="33528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E3A12F"/>
                </a:solidFill>
                <a:latin typeface="Georgia"/>
              </a:rPr>
              <a:t>−3.1 to −7.3 p.p.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E6E6E6"/>
                </a:solidFill>
                <a:latin typeface="Segoe UI"/>
              </a:rPr>
              <a:t>Differences in no-show rates associated with SMS in groups booked 4 or more days ahead.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457200" y="3683000"/>
            <a:ext cx="11277600" cy="0"/>
          </a:xfrm>
          <a:prstGeom prst="line">
            <a:avLst/>
          </a:prstGeom>
          <a:ln w="9525">
            <a:solidFill>
              <a:srgbClr val="444444"/>
            </a:solidFill>
          </a:ln>
        </p:spPr>
      </p:cxnSp>
      <p:sp>
        <p:nvSpPr>
          <p:cNvPr id="22" name="Reco card"/>
          <p:cNvSpPr/>
          <p:nvPr/>
        </p:nvSpPr>
        <p:spPr>
          <a:xfrm>
            <a:off x="457200" y="3911600"/>
            <a:ext cx="5486400" cy="14224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Reco bar"/>
          <p:cNvSpPr/>
          <p:nvPr/>
        </p:nvSpPr>
        <p:spPr>
          <a:xfrm>
            <a:off x="457200" y="3911600"/>
            <a:ext cx="50800" cy="14224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4" name="Reco text"/>
          <p:cNvSpPr/>
          <p:nvPr/>
        </p:nvSpPr>
        <p:spPr>
          <a:xfrm>
            <a:off x="736600" y="41402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A86F10"/>
                </a:solidFill>
                <a:latin typeface="Segoe UI"/>
              </a:rPr>
              <a:t>EXECUTIVE RECOMMENDATION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333333"/>
                </a:solidFill>
                <a:latin typeface="Segoe UI"/>
              </a:rPr>
              <a:t>Validate current data and </a:t>
            </a:r>
            <a:r>
              <a:rPr lang="en-US" sz="1400" b="1" dirty="0">
                <a:solidFill>
                  <a:srgbClr val="232323"/>
                </a:solidFill>
                <a:latin typeface="Segoe UI"/>
              </a:rPr>
              <a:t>test SMS with active confirmation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, comparing the results with a control group before scaling up the initiative.</a:t>
            </a:r>
          </a:p>
        </p:txBody>
      </p:sp>
      <p:sp>
        <p:nvSpPr>
          <p:cNvPr id="25" name="Next card"/>
          <p:cNvSpPr/>
          <p:nvPr/>
        </p:nvSpPr>
        <p:spPr>
          <a:xfrm>
            <a:off x="6248400" y="3911600"/>
            <a:ext cx="5486400" cy="1422400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Next bar"/>
          <p:cNvSpPr/>
          <p:nvPr/>
        </p:nvSpPr>
        <p:spPr>
          <a:xfrm>
            <a:off x="6248400" y="3911600"/>
            <a:ext cx="50800" cy="14224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Next text"/>
          <p:cNvSpPr/>
          <p:nvPr/>
        </p:nvSpPr>
        <p:spPr>
          <a:xfrm>
            <a:off x="6527800" y="41402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spc="200" dirty="0">
                <a:solidFill>
                  <a:srgbClr val="BDBDBD"/>
                </a:solidFill>
                <a:latin typeface="Segoe UI"/>
              </a:rPr>
              <a:t>NEXT STEP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buNone/>
            </a:pPr>
            <a:r>
              <a:rPr lang="en-US" sz="1400" dirty="0">
                <a:solidFill>
                  <a:srgbClr val="E6E6E6"/>
                </a:solidFill>
                <a:latin typeface="Segoe UI"/>
              </a:rPr>
              <a:t>Run a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controlled pilot</a:t>
            </a:r>
            <a:r>
              <a:rPr lang="en-US" sz="1400" dirty="0">
                <a:solidFill>
                  <a:srgbClr val="E6E6E6"/>
                </a:solidFill>
                <a:latin typeface="Segoe UI"/>
              </a:rPr>
              <a:t> and assess the reduction in no-shows, cost per no-show avoided and operational feasibility.</a:t>
            </a:r>
          </a:p>
        </p:txBody>
      </p:sp>
      <p:sp>
        <p:nvSpPr>
          <p:cNvPr id="28" name="Takeaway"/>
          <p:cNvSpPr/>
          <p:nvPr/>
        </p:nvSpPr>
        <p:spPr>
          <a:xfrm>
            <a:off x="457200" y="55880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i="1" dirty="0">
                <a:solidFill>
                  <a:srgbClr val="FFFFFF"/>
                </a:solidFill>
                <a:latin typeface="Georgia"/>
              </a:rPr>
              <a:t>There is an opportunity to improve attendance; scaling up the initiative depends on a test with current data.</a:t>
            </a:r>
          </a:p>
        </p:txBody>
      </p:sp>
      <p:sp>
        <p:nvSpPr>
          <p:cNvPr id="29" name="Note"/>
          <p:cNvSpPr/>
          <p:nvPr/>
        </p:nvSpPr>
        <p:spPr>
          <a:xfrm>
            <a:off x="457200" y="61722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BDBDBD"/>
                </a:solidFill>
                <a:latin typeface="Segoe UI"/>
              </a:rPr>
              <a:t>historical data from April 29 to June 8, 2016. The results are observational and do not prove causation.</a:t>
            </a:r>
          </a:p>
        </p:txBody>
      </p:sp>
    </p:spTree>
    <p:extLst>
      <p:ext uri="{BB962C8B-B14F-4D97-AF65-F5344CB8AC3E}">
        <p14:creationId xmlns:p14="http://schemas.microsoft.com/office/powerpoint/2010/main" val="1957847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bar">
            <a:extLst>
              <a:ext uri="{FF2B5EF4-FFF2-40B4-BE49-F238E27FC236}">
                <a16:creationId xmlns:a16="http://schemas.microsoft.com/office/drawing/2014/main" id="{F5CC77D6-0E70-4CF1-9AD8-9B8566E7984F}"/>
              </a:ext>
            </a:extLst>
          </p:cNvPr>
          <p:cNvSpPr/>
          <p:nvPr/>
        </p:nvSpPr>
        <p:spPr>
          <a:xfrm>
            <a:off x="457200" y="381000"/>
            <a:ext cx="355600" cy="38100"/>
          </a:xfrm>
          <a:prstGeom prst="rect">
            <a:avLst/>
          </a:prstGeom>
          <a:solidFill>
            <a:srgbClr val="E3A1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3FAB248-E115-447C-A6DC-32CFF9781FCD}"/>
              </a:ext>
            </a:extLst>
          </p:cNvPr>
          <p:cNvSpPr txBox="1"/>
          <p:nvPr/>
        </p:nvSpPr>
        <p:spPr>
          <a:xfrm>
            <a:off x="914400" y="279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spc="300" dirty="0">
                <a:solidFill>
                  <a:srgbClr val="BDBDBD"/>
                </a:solidFill>
                <a:latin typeface="Segoe UI"/>
              </a:rPr>
              <a:t>APPENDIX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5024C7F-B785-4902-BAB5-066D744D8AF2}"/>
              </a:ext>
            </a:extLst>
          </p:cNvPr>
          <p:cNvSpPr txBox="1"/>
          <p:nvPr/>
        </p:nvSpPr>
        <p:spPr>
          <a:xfrm>
            <a:off x="457200" y="5842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Appendix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9F8DC001-579D-4578-AB47-5881F6DC202D}"/>
              </a:ext>
            </a:extLst>
          </p:cNvPr>
          <p:cNvSpPr txBox="1"/>
          <p:nvPr/>
        </p:nvSpPr>
        <p:spPr>
          <a:xfrm>
            <a:off x="457200" y="11684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A8A8A8"/>
                </a:solidFill>
                <a:latin typeface="Segoe UI"/>
              </a:rPr>
              <a:t>Supporting detail: methodology, calculations and reference tables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BC049067-3874-4A61-93E4-AAEA5F733052}"/>
              </a:ext>
            </a:extLst>
          </p:cNvPr>
          <p:cNvSpPr/>
          <p:nvPr/>
        </p:nvSpPr>
        <p:spPr>
          <a:xfrm>
            <a:off x="457200" y="1651000"/>
            <a:ext cx="11277600" cy="127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ontent panel">
            <a:extLst>
              <a:ext uri="{FF2B5EF4-FFF2-40B4-BE49-F238E27FC236}">
                <a16:creationId xmlns:a16="http://schemas.microsoft.com/office/drawing/2014/main" id="{12F2A28B-2E3E-4829-808E-DD279DE906DC}"/>
              </a:ext>
            </a:extLst>
          </p:cNvPr>
          <p:cNvSpPr/>
          <p:nvPr/>
        </p:nvSpPr>
        <p:spPr>
          <a:xfrm>
            <a:off x="457200" y="2108200"/>
            <a:ext cx="11277600" cy="3810000"/>
          </a:xfrm>
          <a:prstGeom prst="rect">
            <a:avLst/>
          </a:prstGeom>
          <a:solidFill>
            <a:srgbClr val="282828"/>
          </a:solidFill>
          <a:ln w="9525" cap="flat" cmpd="sng" algn="ctr">
            <a:solidFill>
              <a:srgbClr val="3A3A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Panel label">
            <a:extLst>
              <a:ext uri="{FF2B5EF4-FFF2-40B4-BE49-F238E27FC236}">
                <a16:creationId xmlns:a16="http://schemas.microsoft.com/office/drawing/2014/main" id="{D566044B-10DA-4CD8-BE2D-CF01E4DEEC17}"/>
              </a:ext>
            </a:extLst>
          </p:cNvPr>
          <p:cNvSpPr txBox="1"/>
          <p:nvPr/>
        </p:nvSpPr>
        <p:spPr>
          <a:xfrm>
            <a:off x="685800" y="2311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buNone/>
            </a:pPr>
            <a:r>
              <a:rPr lang="en-US" sz="1100" b="1" spc="300" dirty="0">
                <a:solidFill>
                  <a:srgbClr val="E3A12F"/>
                </a:solidFill>
                <a:latin typeface="Segoe UI"/>
              </a:rPr>
              <a:t>CONTENTS</a:t>
            </a:r>
          </a:p>
        </p:txBody>
      </p:sp>
      <p:sp>
        <p:nvSpPr>
          <p:cNvPr id="9" name="Panel hint">
            <a:extLst>
              <a:ext uri="{FF2B5EF4-FFF2-40B4-BE49-F238E27FC236}">
                <a16:creationId xmlns:a16="http://schemas.microsoft.com/office/drawing/2014/main" id="{9440E6D7-F7E7-46E5-9D33-DCA8194230E3}"/>
              </a:ext>
            </a:extLst>
          </p:cNvPr>
          <p:cNvSpPr txBox="1"/>
          <p:nvPr/>
        </p:nvSpPr>
        <p:spPr>
          <a:xfrm>
            <a:off x="685800" y="2743200"/>
            <a:ext cx="5050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A1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Data and cleaning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A2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Statistical approach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A3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Results by hypothesis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A4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SMS by lead-time group</a:t>
            </a:r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E3ADFF56-9F3A-4910-87E3-573F76EC26DE}"/>
              </a:ext>
            </a:extLst>
          </p:cNvPr>
          <p:cNvSpPr txBox="1"/>
          <p:nvPr/>
        </p:nvSpPr>
        <p:spPr>
          <a:xfrm>
            <a:off x="457200" y="6350000"/>
            <a:ext cx="11277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dirty="0">
                <a:solidFill>
                  <a:srgbClr val="BDBDBD"/>
                </a:solidFill>
                <a:latin typeface="Segoe UI"/>
              </a:rPr>
              <a:t>historical data from April 29 to June 8, 2016. The results are observational and do not prove causation.</a:t>
            </a:r>
          </a:p>
        </p:txBody>
      </p:sp>
      <p:sp>
        <p:nvSpPr>
          <p:cNvPr id="80" name="Contents right">
            <a:extLst>
              <a:ext uri="{FF2B5EF4-FFF2-40B4-BE49-F238E27FC236}">
                <a16:creationId xmlns:a16="http://schemas.microsoft.com/office/drawing/2014/main" id="{9440E6D7-F7E7-46E5-9D33-DCA8194230E3}"/>
              </a:ext>
            </a:extLst>
          </p:cNvPr>
          <p:cNvSpPr txBox="1"/>
          <p:nvPr/>
        </p:nvSpPr>
        <p:spPr>
          <a:xfrm>
            <a:off x="5969000" y="2743200"/>
            <a:ext cx="5050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A5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Neighborhoods × lead time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A6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Risk segmentation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A7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Limitations</a:t>
            </a:r>
          </a:p>
          <a:p>
            <a:pPr algn="l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sz="1400" b="1" dirty="0">
                <a:solidFill>
                  <a:srgbClr val="C0623A"/>
                </a:solidFill>
                <a:latin typeface="Georgia"/>
              </a:rPr>
              <a:t>A8   </a:t>
            </a:r>
            <a:r>
              <a:rPr lang="en-US" sz="1400" dirty="0">
                <a:solidFill>
                  <a:srgbClr val="DADADA"/>
                </a:solidFill>
                <a:latin typeface="Segoe UI"/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342518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A1  ·  DATA AND CLEANING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Data and cleaning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Stat210"/>
          <p:cNvSpPr/>
          <p:nvPr/>
        </p:nvSpPr>
        <p:spPr>
          <a:xfrm>
            <a:off x="457200" y="1752600"/>
            <a:ext cx="355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232323"/>
                </a:solidFill>
                <a:latin typeface="Georgia"/>
              </a:rPr>
              <a:t>110,521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valid appointments (final base)</a:t>
            </a:r>
          </a:p>
        </p:txBody>
      </p:sp>
      <p:sp>
        <p:nvSpPr>
          <p:cNvPr id="211" name="Stat211"/>
          <p:cNvSpPr/>
          <p:nvPr/>
        </p:nvSpPr>
        <p:spPr>
          <a:xfrm>
            <a:off x="4267200" y="1752600"/>
            <a:ext cx="355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C0623A"/>
                </a:solidFill>
                <a:latin typeface="Georgia"/>
              </a:rPr>
              <a:t>22,314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ended in a no-show</a:t>
            </a:r>
          </a:p>
        </p:txBody>
      </p:sp>
      <p:sp>
        <p:nvSpPr>
          <p:cNvPr id="212" name="Stat212"/>
          <p:cNvSpPr/>
          <p:nvPr/>
        </p:nvSpPr>
        <p:spPr>
          <a:xfrm>
            <a:off x="8077200" y="1752600"/>
            <a:ext cx="355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C0623A"/>
                </a:solidFill>
                <a:latin typeface="Georgia"/>
              </a:rPr>
              <a:t>20.2%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baseline no-show rate</a:t>
            </a:r>
          </a:p>
        </p:txBody>
      </p:sp>
      <p:sp>
        <p:nvSpPr>
          <p:cNvPr id="213" name="Line v1"/>
          <p:cNvSpPr/>
          <p:nvPr/>
        </p:nvSpPr>
        <p:spPr>
          <a:xfrm>
            <a:off x="4013200" y="1803400"/>
            <a:ext cx="12700" cy="8382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Line v2"/>
          <p:cNvSpPr/>
          <p:nvPr/>
        </p:nvSpPr>
        <p:spPr>
          <a:xfrm>
            <a:off x="7823200" y="1803400"/>
            <a:ext cx="12700" cy="8382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Card 220"/>
          <p:cNvSpPr/>
          <p:nvPr/>
        </p:nvSpPr>
        <p:spPr>
          <a:xfrm>
            <a:off x="457200" y="2997200"/>
            <a:ext cx="5461000" cy="317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Card bar"/>
          <p:cNvSpPr/>
          <p:nvPr/>
        </p:nvSpPr>
        <p:spPr>
          <a:xfrm>
            <a:off x="457200" y="2997200"/>
            <a:ext cx="5461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Card label"/>
          <p:cNvSpPr/>
          <p:nvPr/>
        </p:nvSpPr>
        <p:spPr>
          <a:xfrm>
            <a:off x="711200" y="3251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SOURCE &amp; PERIOD</a:t>
            </a:r>
          </a:p>
        </p:txBody>
      </p:sp>
      <p:sp>
        <p:nvSpPr>
          <p:cNvPr id="223" name="Card body"/>
          <p:cNvSpPr/>
          <p:nvPr/>
        </p:nvSpPr>
        <p:spPr>
          <a:xfrm>
            <a:off x="711200" y="3657600"/>
            <a:ext cx="495300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Kaggle —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“Medical Appointment No Shows”, a public dataset of public-health bookings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Location: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Vitória, Espírito Santo, Brazil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Period: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29 Apr – 8 Jun 2016 (about six weeks of history)</a:t>
            </a:r>
          </a:p>
        </p:txBody>
      </p:sp>
      <p:sp>
        <p:nvSpPr>
          <p:cNvPr id="230" name="Card 230"/>
          <p:cNvSpPr/>
          <p:nvPr/>
        </p:nvSpPr>
        <p:spPr>
          <a:xfrm>
            <a:off x="6273800" y="2997200"/>
            <a:ext cx="5461000" cy="317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Card bar"/>
          <p:cNvSpPr/>
          <p:nvPr/>
        </p:nvSpPr>
        <p:spPr>
          <a:xfrm>
            <a:off x="6273800" y="2997200"/>
            <a:ext cx="5461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Card label"/>
          <p:cNvSpPr/>
          <p:nvPr/>
        </p:nvSpPr>
        <p:spPr>
          <a:xfrm>
            <a:off x="6527800" y="3251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RECORDS REMOVED</a:t>
            </a:r>
          </a:p>
        </p:txBody>
      </p:sp>
      <p:sp>
        <p:nvSpPr>
          <p:cNvPr id="233" name="Card body"/>
          <p:cNvSpPr/>
          <p:nvPr/>
        </p:nvSpPr>
        <p:spPr>
          <a:xfrm>
            <a:off x="6527800" y="3657600"/>
            <a:ext cx="4953000" cy="236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Age = −1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— invalid entry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Negative lead time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— appointment dated before the booking</a:t>
            </a:r>
          </a:p>
          <a:p>
            <a:pPr marL="171450" indent="-171450">
              <a:lnSpc>
                <a:spcPct val="112000"/>
              </a:lnSpc>
              <a:spcBef>
                <a:spcPts val="700"/>
              </a:spcBef>
              <a:buFont typeface="Arial"/>
              <a:buChar char="•"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Final analysis base: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110,521 valid appointments</a:t>
            </a:r>
          </a:p>
        </p:txBody>
      </p:sp>
      <p:sp>
        <p:nvSpPr>
          <p:cNvPr id="240" name="Note"/>
          <p:cNvSpPr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Source: Kaggle — Medical Appointment No Shows (Vitória / ES, Brazil, 2016). Figures reflect the cleaned analysis base.</a:t>
            </a:r>
          </a:p>
        </p:txBody>
      </p:sp>
    </p:spTree>
    <p:extLst>
      <p:ext uri="{BB962C8B-B14F-4D97-AF65-F5344CB8AC3E}">
        <p14:creationId xmlns:p14="http://schemas.microsoft.com/office/powerpoint/2010/main" val="22091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A2  ·  STATISTICAL APPROACH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Statistical approach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Card210"/>
          <p:cNvSpPr/>
          <p:nvPr/>
        </p:nvSpPr>
        <p:spPr>
          <a:xfrm>
            <a:off x="457200" y="1778000"/>
            <a:ext cx="3556000" cy="4140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r210"/>
          <p:cNvSpPr/>
          <p:nvPr/>
        </p:nvSpPr>
        <p:spPr>
          <a:xfrm>
            <a:off x="457200" y="1778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Lbl210"/>
          <p:cNvSpPr/>
          <p:nvPr/>
        </p:nvSpPr>
        <p:spPr>
          <a:xfrm>
            <a:off x="711200" y="2032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THE TEST</a:t>
            </a:r>
          </a:p>
        </p:txBody>
      </p:sp>
      <p:sp>
        <p:nvSpPr>
          <p:cNvPr id="213" name="Body210"/>
          <p:cNvSpPr/>
          <p:nvPr/>
        </p:nvSpPr>
        <p:spPr>
          <a:xfrm>
            <a:off x="711200" y="2438400"/>
            <a:ext cx="3048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Chi-square (χ²) test of independence.</a:t>
            </a:r>
          </a:p>
          <a:p>
            <a:pPr>
              <a:lnSpc>
                <a:spcPct val="118000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Compares the no-show rate across the groups of a variable (e.g. lead-time bands) and asks whether the differences are larger than chance would produce.</a:t>
            </a:r>
          </a:p>
        </p:txBody>
      </p:sp>
      <p:sp>
        <p:nvSpPr>
          <p:cNvPr id="220" name="Card220"/>
          <p:cNvSpPr/>
          <p:nvPr/>
        </p:nvSpPr>
        <p:spPr>
          <a:xfrm>
            <a:off x="4318000" y="1778000"/>
            <a:ext cx="3556000" cy="4140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318000" y="1778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572000" y="2032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DECISION RULE</a:t>
            </a:r>
          </a:p>
        </p:txBody>
      </p:sp>
      <p:sp>
        <p:nvSpPr>
          <p:cNvPr id="223" name="Body220"/>
          <p:cNvSpPr/>
          <p:nvPr/>
        </p:nvSpPr>
        <p:spPr>
          <a:xfrm>
            <a:off x="4572000" y="2438400"/>
            <a:ext cx="3048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232323"/>
                </a:solidFill>
                <a:latin typeface="Segoe UI"/>
              </a:rPr>
              <a:t>A hypothesis is kept only if both hold:</a:t>
            </a:r>
          </a:p>
          <a:p>
            <a:pPr>
              <a:lnSpc>
                <a:spcPct val="118000"/>
              </a:lnSpc>
              <a:spcBef>
                <a:spcPts val="70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Segoe UI"/>
              </a:rPr>
              <a:t>p &lt; 0.05</a:t>
            </a:r>
          </a:p>
          <a:p>
            <a:pPr>
              <a:lnSpc>
                <a:spcPct val="118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statistically significant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500" b="1" dirty="0">
                <a:solidFill>
                  <a:srgbClr val="C0623A"/>
                </a:solidFill>
                <a:latin typeface="Segoe UI"/>
              </a:rPr>
              <a:t>difference ≥ 3 p.p.</a:t>
            </a:r>
          </a:p>
          <a:p>
            <a:pPr>
              <a:lnSpc>
                <a:spcPct val="118000"/>
              </a:lnSpc>
              <a:spcBef>
                <a:spcPts val="1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practically relevant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The size threshold stops a large sample from flagging trivial gaps.</a:t>
            </a:r>
          </a:p>
        </p:txBody>
      </p:sp>
      <p:sp>
        <p:nvSpPr>
          <p:cNvPr id="230" name="Card230"/>
          <p:cNvSpPr/>
          <p:nvPr/>
        </p:nvSpPr>
        <p:spPr>
          <a:xfrm>
            <a:off x="8178800" y="1778000"/>
            <a:ext cx="3556000" cy="4140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8178800" y="1778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8432800" y="2032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EFFECT SIZE — CRAMÉR'S V</a:t>
            </a:r>
          </a:p>
        </p:txBody>
      </p:sp>
      <p:sp>
        <p:nvSpPr>
          <p:cNvPr id="233" name="Body230"/>
          <p:cNvSpPr/>
          <p:nvPr/>
        </p:nvSpPr>
        <p:spPr>
          <a:xfrm>
            <a:off x="8432800" y="2438400"/>
            <a:ext cx="3048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232323"/>
                </a:solidFill>
                <a:latin typeface="Segoe UI"/>
              </a:rPr>
              <a:t>Measures how strong an association is, on a 0–1 scale.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≈ 0.1</a:t>
            </a:r>
            <a:r>
              <a:rPr lang="en-US" sz="1300" dirty="0">
                <a:solidFill>
                  <a:srgbClr val="6B6B6B"/>
                </a:solidFill>
                <a:latin typeface="Segoe UI"/>
              </a:rPr>
              <a:t>   weak</a:t>
            </a:r>
          </a:p>
          <a:p>
            <a:pPr>
              <a:lnSpc>
                <a:spcPct val="118000"/>
              </a:lnSpc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≈ 0.3</a:t>
            </a:r>
            <a:r>
              <a:rPr lang="en-US" sz="1300" dirty="0">
                <a:solidFill>
                  <a:srgbClr val="6B6B6B"/>
                </a:solidFill>
                <a:latin typeface="Segoe UI"/>
              </a:rPr>
              <a:t>   moderate</a:t>
            </a:r>
          </a:p>
          <a:p>
            <a:pPr>
              <a:lnSpc>
                <a:spcPct val="118000"/>
              </a:lnSpc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Segoe UI"/>
              </a:rPr>
              <a:t>≈ 0.5 +</a:t>
            </a:r>
            <a:r>
              <a:rPr lang="en-US" sz="1300" dirty="0">
                <a:solidFill>
                  <a:srgbClr val="6B6B6B"/>
                </a:solidFill>
                <a:latin typeface="Segoe UI"/>
              </a:rPr>
              <a:t>   strong</a:t>
            </a:r>
          </a:p>
          <a:p>
            <a:pPr>
              <a:lnSpc>
                <a:spcPct val="118000"/>
              </a:lnSpc>
              <a:spcBef>
                <a:spcPts val="500"/>
              </a:spcBef>
              <a:buNone/>
            </a:pPr>
            <a:r>
              <a:rPr lang="en-US" sz="1150" dirty="0">
                <a:solidFill>
                  <a:srgbClr val="6B6B6B"/>
                </a:solidFill>
                <a:latin typeface="Segoe UI"/>
              </a:rPr>
              <a:t>Reported next to every significant test (e.g. lead time, V = 0.295).</a:t>
            </a:r>
          </a:p>
        </p:txBody>
      </p:sp>
      <p:sp>
        <p:nvSpPr>
          <p:cNvPr id="240" name="Note"/>
          <p:cNvSpPr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Associations are reported, not causal effects. Thresholds (p &lt; 0.05; ≥ 3 p.p.) were fixed before testing.</a:t>
            </a:r>
          </a:p>
        </p:txBody>
      </p:sp>
    </p:spTree>
    <p:extLst>
      <p:ext uri="{BB962C8B-B14F-4D97-AF65-F5344CB8AC3E}">
        <p14:creationId xmlns:p14="http://schemas.microsoft.com/office/powerpoint/2010/main" val="1716096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A3  ·  RESULTS BY HYPOTHESIS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Results by hypothesis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Note"/>
          <p:cNvSpPr/>
          <p:nvPr/>
        </p:nvSpPr>
        <p:spPr>
          <a:xfrm>
            <a:off x="457200" y="6413500"/>
            <a:ext cx="1127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Both criteria apply: p &lt; 0.05 and difference ≥ 3 p.p.  *Raw SMS comparison is biased by lead-time profile (see A4).  Full per-hypothesis Cramér's V in the README (A8).</a:t>
            </a:r>
          </a:p>
        </p:txBody>
      </p:sp>
      <p:graphicFrame>
        <p:nvGraphicFramePr>
          <p:cNvPr id="260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771236"/>
              </p:ext>
            </p:extLst>
          </p:nvPr>
        </p:nvGraphicFramePr>
        <p:xfrm>
          <a:off x="457200" y="1600200"/>
          <a:ext cx="11277600" cy="4254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Segoe UI"/>
                        </a:rPr>
                        <a:t>Hypothesis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Segoe UI"/>
                        </a:rPr>
                        <a:t>Key difference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H1.1  Lead time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Same-day 4.6% → 31+ days 33.0%  (Δ 28.4 p.p.; V = 0.295)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H1.2  Weekday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Small difference (&lt; 3 p.p.)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dirty="0">
                          <a:solidFill>
                            <a:srgbClr val="9AA0A6"/>
                          </a:solidFill>
                          <a:latin typeface="Segoe UI"/>
                        </a:rPr>
                        <a:t>No action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H1.3  Lead-time groups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No-shows not concentrated in one or two groups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dirty="0">
                          <a:solidFill>
                            <a:srgbClr val="9AA0A6"/>
                          </a:solidFill>
                          <a:latin typeface="Segoe UI"/>
                        </a:rPr>
                        <a:t>No action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H2.1  SMS (raw)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Raw +10.9 p.p. — biased by appointment profile*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dirty="0">
                          <a:solidFill>
                            <a:srgbClr val="9AA0A6"/>
                          </a:solidFill>
                          <a:latin typeface="Segoe UI"/>
                        </a:rPr>
                        <a:t>No action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H2.2  SMS × lead time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−1.7 to −7.3 p.p. fewer no-shows (4+ days ahead)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H3.1  Age &amp; gender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Age: teens &amp; young adults higher;  gender 0.3 p.p.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H3.2  Conditions &amp; indicators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Scholarship +3.9 p.p.;  others below 3 p.p.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E3A12F"/>
                          </a:solidFill>
                          <a:latin typeface="Segoe UI"/>
                        </a:rPr>
                        <a:t>Caution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H3.3  No-show history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18.8% → 26.9%  (+8.0 p.p.)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H4.1  Neighborhood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Several neighborhoods above the average rate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232323"/>
                          </a:solidFill>
                          <a:latin typeface="Segoe UI"/>
                        </a:rPr>
                        <a:t>H4.2  Neighborhood × lead time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dirty="0">
                          <a:solidFill>
                            <a:srgbClr val="4A4A4A"/>
                          </a:solidFill>
                          <a:latin typeface="Segoe UI"/>
                        </a:rPr>
                        <a:t>6 neighborhoods above criterion after controlling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50" b="1" dirty="0">
                          <a:solidFill>
                            <a:srgbClr val="C0623A"/>
                          </a:solidFill>
                          <a:latin typeface="Segoe UI"/>
                        </a:rPr>
                        <a:t>Prioritize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062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A4  ·  SMS BY LEAD-TIME GROUP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SMS by lead-time group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Caption"/>
          <p:cNvSpPr/>
          <p:nvPr/>
        </p:nvSpPr>
        <p:spPr>
          <a:xfrm>
            <a:off x="457200" y="15240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No-show rate with SMS minus without SMS, within each group (negative = fewer no-shows)</a:t>
            </a:r>
          </a:p>
        </p:txBody>
      </p:sp>
      <p:graphicFrame>
        <p:nvGraphicFramePr>
          <p:cNvPr id="260" name="SMS table"/>
          <p:cNvGraphicFramePr>
            <a:graphicFrameLocks noGrp="1"/>
          </p:cNvGraphicFramePr>
          <p:nvPr/>
        </p:nvGraphicFramePr>
        <p:xfrm>
          <a:off x="457200" y="1905000"/>
          <a:ext cx="6604000" cy="279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Segoe UI"/>
                        </a:rPr>
                        <a:t>Lead-time group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Segoe UI"/>
                        </a:rPr>
                        <a:t>SMS effect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Segoe UI"/>
                        </a:rPr>
                        <a:t>Significance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>
                      <a:solidFill>
                        <a:srgbClr val="B4B4B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31+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−7.3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16–30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−7.1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8–15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−5.7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4–7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−3.1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E6B78"/>
                          </a:solidFill>
                          <a:latin typeface="Segoe UI"/>
                        </a:rPr>
                        <a:t>Significant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232323"/>
                          </a:solidFill>
                          <a:latin typeface="Segoe UI"/>
                        </a:rPr>
                        <a:t>1–3 days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C0623A"/>
                          </a:solidFill>
                          <a:latin typeface="Segoe UI"/>
                        </a:rPr>
                        <a:t>−1.7 p.p.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9AA0A6"/>
                          </a:solidFill>
                          <a:latin typeface="Segoe UI"/>
                        </a:rPr>
                        <a:t>Not sig. (p = 0.24)</a:t>
                      </a:r>
                    </a:p>
                  </a:txBody>
                  <a:tcPr marL="36000" marR="36000" marT="20000" marB="20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ECEC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0" name="Card"/>
          <p:cNvSpPr/>
          <p:nvPr/>
        </p:nvSpPr>
        <p:spPr>
          <a:xfrm>
            <a:off x="7416800" y="1905000"/>
            <a:ext cx="4318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Card bar"/>
          <p:cNvSpPr/>
          <p:nvPr/>
        </p:nvSpPr>
        <p:spPr>
          <a:xfrm>
            <a:off x="7416800" y="1905000"/>
            <a:ext cx="4318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Card label"/>
          <p:cNvSpPr/>
          <p:nvPr/>
        </p:nvSpPr>
        <p:spPr>
          <a:xfrm>
            <a:off x="7670800" y="2159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WHY THE AGGREGATE REVERSES</a:t>
            </a:r>
          </a:p>
        </p:txBody>
      </p:sp>
      <p:sp>
        <p:nvSpPr>
          <p:cNvPr id="243" name="Raw stat"/>
          <p:cNvSpPr/>
          <p:nvPr/>
        </p:nvSpPr>
        <p:spPr>
          <a:xfrm>
            <a:off x="7670800" y="24892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800" b="1" dirty="0">
                <a:solidFill>
                  <a:srgbClr val="C0623A"/>
                </a:solidFill>
                <a:latin typeface="Georgia"/>
              </a:rPr>
              <a:t>+10.9 p.p.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6B6B"/>
                </a:solidFill>
                <a:latin typeface="Segoe UI"/>
              </a:rPr>
              <a:t>raw gap, with SMS (27.6%) vs without (16.7%) — SMS looks worse</a:t>
            </a:r>
          </a:p>
        </p:txBody>
      </p:sp>
      <p:sp>
        <p:nvSpPr>
          <p:cNvPr id="244" name="Card body"/>
          <p:cNvSpPr/>
          <p:nvPr/>
        </p:nvSpPr>
        <p:spPr>
          <a:xfrm>
            <a:off x="7670800" y="35814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egoe UI"/>
              </a:rPr>
              <a:t>SMS is sent far more often for appointments booked well ahead — the highest-risk group. Pooling the groups makes SMS look harmful, </a:t>
            </a:r>
            <a:r>
              <a:rPr lang="en-US" sz="1250" b="1" dirty="0">
                <a:solidFill>
                  <a:srgbClr val="232323"/>
                </a:solidFill>
                <a:latin typeface="Segoe UI"/>
              </a:rPr>
              <a:t>even though it is linked to fewer no-shows within every comparable group.</a:t>
            </a:r>
          </a:p>
          <a:p>
            <a:pPr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C0623A"/>
                </a:solidFill>
                <a:latin typeface="Segoe UI"/>
              </a:rPr>
              <a:t>This reversal is Simpson's paradox.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Chi-square per group. Negative = fewer no-shows with SMS. The 1–3 day group is not statistically significant (p = 0.24).</a:t>
            </a:r>
          </a:p>
        </p:txBody>
      </p:sp>
    </p:spTree>
    <p:extLst>
      <p:ext uri="{BB962C8B-B14F-4D97-AF65-F5344CB8AC3E}">
        <p14:creationId xmlns:p14="http://schemas.microsoft.com/office/powerpoint/2010/main" val="1778607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A5  ·  NEIGHBORHOODS × LEAD TIME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Neighborhoods × lead time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Subtitle"/>
          <p:cNvSpPr/>
          <p:nvPr/>
        </p:nvSpPr>
        <p:spPr>
          <a:xfrm>
            <a:off x="457200" y="15240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Hypothesis H4.2 — do neighborhood differences hold after controlling for lead time?</a:t>
            </a:r>
          </a:p>
        </p:txBody>
      </p:sp>
      <p:sp>
        <p:nvSpPr>
          <p:cNvPr id="210" name="Stat card"/>
          <p:cNvSpPr/>
          <p:nvPr/>
        </p:nvSpPr>
        <p:spPr>
          <a:xfrm>
            <a:off x="457200" y="1930400"/>
            <a:ext cx="3810000" cy="39878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tat bar"/>
          <p:cNvSpPr/>
          <p:nvPr/>
        </p:nvSpPr>
        <p:spPr>
          <a:xfrm>
            <a:off x="457200" y="1930400"/>
            <a:ext cx="3810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Big6"/>
          <p:cNvSpPr/>
          <p:nvPr/>
        </p:nvSpPr>
        <p:spPr>
          <a:xfrm>
            <a:off x="711200" y="24892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0" b="1" dirty="0">
                <a:solidFill>
                  <a:srgbClr val="C0623A"/>
                </a:solidFill>
                <a:latin typeface="Georgia"/>
              </a:rPr>
              <a:t>6</a:t>
            </a:r>
          </a:p>
        </p:txBody>
      </p:sp>
      <p:sp>
        <p:nvSpPr>
          <p:cNvPr id="213" name="Big cap"/>
          <p:cNvSpPr/>
          <p:nvPr/>
        </p:nvSpPr>
        <p:spPr>
          <a:xfrm>
            <a:off x="711200" y="3962400"/>
            <a:ext cx="3302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32323"/>
                </a:solidFill>
                <a:latin typeface="Segoe UI"/>
              </a:rPr>
              <a:t>neighborhoods stay above the no-show criterion even after controlling for lead time</a:t>
            </a:r>
          </a:p>
        </p:txBody>
      </p:sp>
      <p:sp>
        <p:nvSpPr>
          <p:cNvPr id="220" name="Card220"/>
          <p:cNvSpPr/>
          <p:nvPr/>
        </p:nvSpPr>
        <p:spPr>
          <a:xfrm>
            <a:off x="4572000" y="1930400"/>
            <a:ext cx="7162800" cy="190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572000" y="1930400"/>
            <a:ext cx="71628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826000" y="2159000"/>
            <a:ext cx="665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HOW IT WAS TESTED</a:t>
            </a:r>
          </a:p>
        </p:txBody>
      </p:sp>
      <p:sp>
        <p:nvSpPr>
          <p:cNvPr id="223" name="Body220"/>
          <p:cNvSpPr/>
          <p:nvPr/>
        </p:nvSpPr>
        <p:spPr>
          <a:xfrm>
            <a:off x="4826000" y="2540000"/>
            <a:ext cx="6654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Appointments are split into the five lead-time bands. Within each band, every neighborhood's no-show rate is compared against the same practical-relevance criterion — so longer booking lead times in an area cannot, on their own, explain a high rate.</a:t>
            </a:r>
          </a:p>
        </p:txBody>
      </p:sp>
      <p:sp>
        <p:nvSpPr>
          <p:cNvPr id="230" name="Card230"/>
          <p:cNvSpPr/>
          <p:nvPr/>
        </p:nvSpPr>
        <p:spPr>
          <a:xfrm>
            <a:off x="4572000" y="4013200"/>
            <a:ext cx="7162800" cy="1905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4572000" y="4013200"/>
            <a:ext cx="71628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4826000" y="4241800"/>
            <a:ext cx="665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50" dirty="0">
                <a:solidFill>
                  <a:srgbClr val="5E6B78"/>
                </a:solidFill>
                <a:latin typeface="Segoe UI"/>
              </a:rPr>
              <a:t>WHAT IT MEANS</a:t>
            </a:r>
          </a:p>
        </p:txBody>
      </p:sp>
      <p:sp>
        <p:nvSpPr>
          <p:cNvPr id="233" name="Body230"/>
          <p:cNvSpPr/>
          <p:nvPr/>
        </p:nvSpPr>
        <p:spPr>
          <a:xfrm>
            <a:off x="4826000" y="4622800"/>
            <a:ext cx="6654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Six neighborhoods stay above the criterion inside comparable bands. Their higher no-show rates are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not just a by-product of lead time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— location is an independent signal worth targeting.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Per-neighborhood no-show rates by lead-time band are available in the Power BI dashboard (A8).</a:t>
            </a:r>
          </a:p>
        </p:txBody>
      </p:sp>
    </p:spTree>
    <p:extLst>
      <p:ext uri="{BB962C8B-B14F-4D97-AF65-F5344CB8AC3E}">
        <p14:creationId xmlns:p14="http://schemas.microsoft.com/office/powerpoint/2010/main" val="361239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A6  ·  RISK SEGMENTATION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Risk segmentation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Subtitle"/>
          <p:cNvSpPr/>
          <p:nvPr/>
        </p:nvSpPr>
        <p:spPr>
          <a:xfrm>
            <a:off x="457200" y="15240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6B6B6B"/>
                </a:solidFill>
                <a:latin typeface="Segoe UI"/>
              </a:rPr>
              <a:t>The confirmed drivers — prior no-show history, long lead time, younger age — combine into three risk bands</a:t>
            </a:r>
          </a:p>
        </p:txBody>
      </p:sp>
      <p:sp>
        <p:nvSpPr>
          <p:cNvPr id="210" name="Card210"/>
          <p:cNvSpPr/>
          <p:nvPr/>
        </p:nvSpPr>
        <p:spPr>
          <a:xfrm>
            <a:off x="457200" y="1930400"/>
            <a:ext cx="3556000" cy="23876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r210"/>
          <p:cNvSpPr/>
          <p:nvPr/>
        </p:nvSpPr>
        <p:spPr>
          <a:xfrm>
            <a:off x="457200" y="19304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Lbl210"/>
          <p:cNvSpPr/>
          <p:nvPr/>
        </p:nvSpPr>
        <p:spPr>
          <a:xfrm>
            <a:off x="711200" y="2184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C0623A"/>
                </a:solidFill>
                <a:latin typeface="Segoe UI"/>
              </a:rPr>
              <a:t>HIGH RISK</a:t>
            </a:r>
          </a:p>
        </p:txBody>
      </p:sp>
      <p:sp>
        <p:nvSpPr>
          <p:cNvPr id="213" name="Body210"/>
          <p:cNvSpPr/>
          <p:nvPr/>
        </p:nvSpPr>
        <p:spPr>
          <a:xfrm>
            <a:off x="711200" y="2565400"/>
            <a:ext cx="3048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32323"/>
                </a:solidFill>
                <a:latin typeface="Segoe UI"/>
              </a:rPr>
              <a:t>A prior no-show on record 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and a long booking lead time; skews toward younger patients.</a:t>
            </a:r>
          </a:p>
        </p:txBody>
      </p:sp>
      <p:sp>
        <p:nvSpPr>
          <p:cNvPr id="220" name="Card220"/>
          <p:cNvSpPr/>
          <p:nvPr/>
        </p:nvSpPr>
        <p:spPr>
          <a:xfrm>
            <a:off x="4318000" y="1930400"/>
            <a:ext cx="3556000" cy="23876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318000" y="1930400"/>
            <a:ext cx="3556000" cy="50800"/>
          </a:xfrm>
          <a:prstGeom prst="rect">
            <a:avLst/>
          </a:prstGeom>
          <a:solidFill>
            <a:srgbClr val="E3A1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572000" y="2184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B07A1E"/>
                </a:solidFill>
                <a:latin typeface="Segoe UI"/>
              </a:rPr>
              <a:t>MEDIUM RISK</a:t>
            </a:r>
          </a:p>
        </p:txBody>
      </p:sp>
      <p:sp>
        <p:nvSpPr>
          <p:cNvPr id="223" name="Body220"/>
          <p:cNvSpPr/>
          <p:nvPr/>
        </p:nvSpPr>
        <p:spPr>
          <a:xfrm>
            <a:off x="4572000" y="2565400"/>
            <a:ext cx="3048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One strong signal — either a prior no-show </a:t>
            </a:r>
            <a:r>
              <a:rPr lang="en-US" sz="1300" b="1" dirty="0">
                <a:solidFill>
                  <a:srgbClr val="232323"/>
                </a:solidFill>
                <a:latin typeface="Segoe UI"/>
              </a:rPr>
              <a:t>or</a:t>
            </a:r>
            <a:r>
              <a:rPr lang="en-US" sz="1300" dirty="0">
                <a:solidFill>
                  <a:srgbClr val="4A4A4A"/>
                </a:solidFill>
                <a:latin typeface="Segoe UI"/>
              </a:rPr>
              <a:t> a long lead time, but not both.</a:t>
            </a:r>
          </a:p>
        </p:txBody>
      </p:sp>
      <p:sp>
        <p:nvSpPr>
          <p:cNvPr id="230" name="Card230"/>
          <p:cNvSpPr/>
          <p:nvPr/>
        </p:nvSpPr>
        <p:spPr>
          <a:xfrm>
            <a:off x="8178800" y="1930400"/>
            <a:ext cx="3556000" cy="23876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8178800" y="1930400"/>
            <a:ext cx="3556000" cy="50800"/>
          </a:xfrm>
          <a:prstGeom prst="rect">
            <a:avLst/>
          </a:prstGeom>
          <a:solidFill>
            <a:srgbClr val="5E6B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8432800" y="2184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150" dirty="0">
                <a:solidFill>
                  <a:srgbClr val="5E6B78"/>
                </a:solidFill>
                <a:latin typeface="Segoe UI"/>
              </a:rPr>
              <a:t>LOWER RISK</a:t>
            </a:r>
          </a:p>
        </p:txBody>
      </p:sp>
      <p:sp>
        <p:nvSpPr>
          <p:cNvPr id="233" name="Body230"/>
          <p:cNvSpPr/>
          <p:nvPr/>
        </p:nvSpPr>
        <p:spPr>
          <a:xfrm>
            <a:off x="8432800" y="2565400"/>
            <a:ext cx="30480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8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Segoe UI"/>
              </a:rPr>
              <a:t>Same-day or short lead time and no prior no-show; attendance is already high.</a:t>
            </a:r>
          </a:p>
        </p:txBody>
      </p:sp>
      <p:sp>
        <p:nvSpPr>
          <p:cNvPr id="240" name="Strip"/>
          <p:cNvSpPr/>
          <p:nvPr/>
        </p:nvSpPr>
        <p:spPr>
          <a:xfrm>
            <a:off x="457200" y="4572000"/>
            <a:ext cx="11277600" cy="13462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Strip bar"/>
          <p:cNvSpPr/>
          <p:nvPr/>
        </p:nvSpPr>
        <p:spPr>
          <a:xfrm>
            <a:off x="457200" y="4572000"/>
            <a:ext cx="50800" cy="13462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n41"/>
          <p:cNvSpPr/>
          <p:nvPr/>
        </p:nvSpPr>
        <p:spPr>
          <a:xfrm>
            <a:off x="812800" y="47752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232323"/>
                </a:solidFill>
                <a:latin typeface="Georgia"/>
              </a:rPr>
              <a:t>41%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of all appointments</a:t>
            </a:r>
          </a:p>
        </p:txBody>
      </p:sp>
      <p:sp>
        <p:nvSpPr>
          <p:cNvPr id="243" name="n63"/>
          <p:cNvSpPr/>
          <p:nvPr/>
        </p:nvSpPr>
        <p:spPr>
          <a:xfrm>
            <a:off x="3429000" y="47752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C0623A"/>
                </a:solidFill>
                <a:latin typeface="Georgia"/>
              </a:rPr>
              <a:t>63%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Segoe UI"/>
              </a:rPr>
              <a:t>of all no-shows</a:t>
            </a:r>
          </a:p>
        </p:txBody>
      </p:sp>
      <p:sp>
        <p:nvSpPr>
          <p:cNvPr id="244" name="Strip div"/>
          <p:cNvSpPr/>
          <p:nvPr/>
        </p:nvSpPr>
        <p:spPr>
          <a:xfrm>
            <a:off x="6172200" y="4876800"/>
            <a:ext cx="12700" cy="736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Strip text"/>
          <p:cNvSpPr/>
          <p:nvPr/>
        </p:nvSpPr>
        <p:spPr>
          <a:xfrm>
            <a:off x="6553200" y="4876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18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Segoe UI"/>
              </a:rPr>
              <a:t>sit in the high- and medium-risk bands — the groups to target first with reminders and active confirmation.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Bands combine the confirmed drivers; exact thresholds and per-band figures are defined in the README and dashboard (A8).</a:t>
            </a:r>
          </a:p>
        </p:txBody>
      </p:sp>
    </p:spTree>
    <p:extLst>
      <p:ext uri="{BB962C8B-B14F-4D97-AF65-F5344CB8AC3E}">
        <p14:creationId xmlns:p14="http://schemas.microsoft.com/office/powerpoint/2010/main" val="3303566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A7  ·  LIMITATIONS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Limitations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Mark0"/>
          <p:cNvSpPr/>
          <p:nvPr/>
        </p:nvSpPr>
        <p:spPr>
          <a:xfrm>
            <a:off x="457200" y="19685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Item0"/>
          <p:cNvSpPr/>
          <p:nvPr/>
        </p:nvSpPr>
        <p:spPr>
          <a:xfrm>
            <a:off x="838200" y="19050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Observational data.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associations, not causation. We cannot say an SMS or reminder causes attendance — unmeasured factors may drive both.</a:t>
            </a:r>
          </a:p>
        </p:txBody>
      </p:sp>
      <p:sp>
        <p:nvSpPr>
          <p:cNvPr id="212" name="Mark1"/>
          <p:cNvSpPr/>
          <p:nvPr/>
        </p:nvSpPr>
        <p:spPr>
          <a:xfrm>
            <a:off x="457200" y="28321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Item1"/>
          <p:cNvSpPr/>
          <p:nvPr/>
        </p:nvSpPr>
        <p:spPr>
          <a:xfrm>
            <a:off x="838200" y="27686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Short window.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about six weeks of history (Apr–Jun 2016). Seasonality and year-over-year trends are not captured.</a:t>
            </a:r>
          </a:p>
        </p:txBody>
      </p:sp>
      <p:sp>
        <p:nvSpPr>
          <p:cNvPr id="214" name="Mark2"/>
          <p:cNvSpPr/>
          <p:nvPr/>
        </p:nvSpPr>
        <p:spPr>
          <a:xfrm>
            <a:off x="457200" y="36957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Item2"/>
          <p:cNvSpPr/>
          <p:nvPr/>
        </p:nvSpPr>
        <p:spPr>
          <a:xfrm>
            <a:off x="838200" y="36322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No reason recorded.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illness, transport, work or simple forgetfulness are indistinguishable in the data.</a:t>
            </a:r>
          </a:p>
        </p:txBody>
      </p:sp>
      <p:sp>
        <p:nvSpPr>
          <p:cNvPr id="216" name="Mark3"/>
          <p:cNvSpPr/>
          <p:nvPr/>
        </p:nvSpPr>
        <p:spPr>
          <a:xfrm>
            <a:off x="457200" y="45593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Item3"/>
          <p:cNvSpPr/>
          <p:nvPr/>
        </p:nvSpPr>
        <p:spPr>
          <a:xfrm>
            <a:off x="838200" y="44958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Single city and year.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Vitória / ES, 2016. Findings may not transfer to other services or periods.</a:t>
            </a:r>
          </a:p>
        </p:txBody>
      </p:sp>
      <p:sp>
        <p:nvSpPr>
          <p:cNvPr id="218" name="Mark4"/>
          <p:cNvSpPr/>
          <p:nvPr/>
        </p:nvSpPr>
        <p:spPr>
          <a:xfrm>
            <a:off x="457200" y="5422900"/>
            <a:ext cx="139700" cy="1397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Item4"/>
          <p:cNvSpPr/>
          <p:nvPr/>
        </p:nvSpPr>
        <p:spPr>
          <a:xfrm>
            <a:off x="838200" y="5359400"/>
            <a:ext cx="1089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Segoe UI"/>
              </a:rPr>
              <a:t>Partial history.  </a:t>
            </a:r>
            <a:r>
              <a:rPr lang="en-US" sz="1500" dirty="0">
                <a:solidFill>
                  <a:srgbClr val="4A4A4A"/>
                </a:solidFill>
                <a:latin typeface="Segoe UI"/>
              </a:rPr>
              <a:t>a prior no-show is only observable for returning patients; first-time patients have no history.</a:t>
            </a: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  <a:latin typeface="Segoe UI"/>
              </a:rPr>
              <a:t>Limitations are scoping notes for interpreting the findings, not reasons to discount them.</a:t>
            </a:r>
          </a:p>
        </p:txBody>
      </p:sp>
    </p:spTree>
    <p:extLst>
      <p:ext uri="{BB962C8B-B14F-4D97-AF65-F5344CB8AC3E}">
        <p14:creationId xmlns:p14="http://schemas.microsoft.com/office/powerpoint/2010/main" val="2733779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 bar"/>
          <p:cNvSpPr/>
          <p:nvPr/>
        </p:nvSpPr>
        <p:spPr>
          <a:xfrm>
            <a:off x="457200" y="431800"/>
            <a:ext cx="355600" cy="381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yebrow"/>
          <p:cNvSpPr/>
          <p:nvPr/>
        </p:nvSpPr>
        <p:spPr>
          <a:xfrm>
            <a:off x="914400" y="3429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100" b="1" spc="300" dirty="0">
                <a:solidFill>
                  <a:srgbClr val="4A4A4A"/>
                </a:solidFill>
                <a:latin typeface="Segoe UI"/>
              </a:rPr>
              <a:t>APPENDIX  ·  A8  ·  RESOURCES</a:t>
            </a:r>
          </a:p>
        </p:txBody>
      </p:sp>
      <p:sp>
        <p:nvSpPr>
          <p:cNvPr id="203" name="Title"/>
          <p:cNvSpPr/>
          <p:nvPr/>
        </p:nvSpPr>
        <p:spPr>
          <a:xfrm>
            <a:off x="457200" y="635000"/>
            <a:ext cx="1127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2600" b="1" dirty="0">
                <a:solidFill>
                  <a:srgbClr val="232323"/>
                </a:solidFill>
                <a:latin typeface="Georgia"/>
              </a:rPr>
              <a:t>Resources</a:t>
            </a:r>
          </a:p>
        </p:txBody>
      </p:sp>
      <p:sp>
        <p:nvSpPr>
          <p:cNvPr id="204" name="Divider"/>
          <p:cNvSpPr/>
          <p:nvPr/>
        </p:nvSpPr>
        <p:spPr>
          <a:xfrm>
            <a:off x="457200" y="1422400"/>
            <a:ext cx="11277600" cy="127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Card210"/>
          <p:cNvSpPr/>
          <p:nvPr/>
        </p:nvSpPr>
        <p:spPr>
          <a:xfrm>
            <a:off x="457200" y="1905000"/>
            <a:ext cx="3556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r210"/>
          <p:cNvSpPr/>
          <p:nvPr/>
        </p:nvSpPr>
        <p:spPr>
          <a:xfrm>
            <a:off x="457200" y="1905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Lbl210"/>
          <p:cNvSpPr/>
          <p:nvPr/>
        </p:nvSpPr>
        <p:spPr>
          <a:xfrm>
            <a:off x="762000" y="2235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50" b="1" spc="150" dirty="0">
                <a:solidFill>
                  <a:srgbClr val="5E6B78"/>
                </a:solidFill>
                <a:latin typeface="Segoe UI"/>
              </a:rPr>
              <a:t>CODE &amp; DOCUMENTATION</a:t>
            </a:r>
          </a:p>
        </p:txBody>
      </p:sp>
      <p:sp>
        <p:nvSpPr>
          <p:cNvPr id="213" name="Title210"/>
          <p:cNvSpPr/>
          <p:nvPr/>
        </p:nvSpPr>
        <p:spPr>
          <a:xfrm>
            <a:off x="762000" y="25654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GitHub repository</a:t>
            </a:r>
          </a:p>
        </p:txBody>
      </p:sp>
      <p:sp>
        <p:nvSpPr>
          <p:cNvPr id="214" name="Desc210"/>
          <p:cNvSpPr/>
          <p:nvPr/>
        </p:nvSpPr>
        <p:spPr>
          <a:xfrm>
            <a:off x="762000" y="3175000"/>
            <a:ext cx="2946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Full analysis and data-cleaning steps, with the README documenting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every hypothesis test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— difference and Cramér's V.</a:t>
            </a:r>
          </a:p>
        </p:txBody>
      </p:sp>
      <p:sp>
        <p:nvSpPr>
          <p:cNvPr id="215" name="LinkL210"/>
          <p:cNvSpPr/>
          <p:nvPr/>
        </p:nvSpPr>
        <p:spPr>
          <a:xfrm>
            <a:off x="762000" y="48260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1" spc="150" dirty="0">
                <a:solidFill>
                  <a:srgbClr val="8A8A8A"/>
                </a:solidFill>
                <a:latin typeface="Segoe UI"/>
              </a:rPr>
              <a:t>REPOSITORY</a:t>
            </a:r>
          </a:p>
        </p:txBody>
      </p:sp>
      <p:sp>
        <p:nvSpPr>
          <p:cNvPr id="216" name="Link210"/>
          <p:cNvSpPr/>
          <p:nvPr/>
        </p:nvSpPr>
        <p:spPr>
          <a:xfrm>
            <a:off x="762000" y="5080000"/>
            <a:ext cx="294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250" b="1" u="sng" dirty="0">
                <a:solidFill>
                  <a:srgbClr val="C0623A"/>
                </a:solidFill>
                <a:latin typeface="Segoe UI"/>
                <a:hlinkClick r:id="rId2"/>
              </a:rPr>
              <a:t>Open on GitHub ↗</a:t>
            </a:r>
            <a:endParaRPr lang="en-US" sz="1250" b="1" u="sng" dirty="0">
              <a:solidFill>
                <a:srgbClr val="C0623A"/>
              </a:solidFill>
              <a:latin typeface="Segoe UI"/>
            </a:endParaRPr>
          </a:p>
        </p:txBody>
      </p:sp>
      <p:sp>
        <p:nvSpPr>
          <p:cNvPr id="220" name="Card220"/>
          <p:cNvSpPr/>
          <p:nvPr/>
        </p:nvSpPr>
        <p:spPr>
          <a:xfrm>
            <a:off x="4318000" y="1905000"/>
            <a:ext cx="3556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Bar220"/>
          <p:cNvSpPr/>
          <p:nvPr/>
        </p:nvSpPr>
        <p:spPr>
          <a:xfrm>
            <a:off x="4318000" y="1905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Lbl220"/>
          <p:cNvSpPr/>
          <p:nvPr/>
        </p:nvSpPr>
        <p:spPr>
          <a:xfrm>
            <a:off x="4622800" y="2235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50" b="1" spc="150" dirty="0">
                <a:solidFill>
                  <a:srgbClr val="5E6B78"/>
                </a:solidFill>
                <a:latin typeface="Segoe UI"/>
              </a:rPr>
              <a:t>CALCULATIONS</a:t>
            </a:r>
          </a:p>
        </p:txBody>
      </p:sp>
      <p:sp>
        <p:nvSpPr>
          <p:cNvPr id="223" name="Title220"/>
          <p:cNvSpPr/>
          <p:nvPr/>
        </p:nvSpPr>
        <p:spPr>
          <a:xfrm>
            <a:off x="4622800" y="25654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Excel workbook</a:t>
            </a:r>
          </a:p>
        </p:txBody>
      </p:sp>
      <p:sp>
        <p:nvSpPr>
          <p:cNvPr id="224" name="Desc220"/>
          <p:cNvSpPr/>
          <p:nvPr/>
        </p:nvSpPr>
        <p:spPr>
          <a:xfrm>
            <a:off x="4622800" y="3175000"/>
            <a:ext cx="2946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The statistics behind the deck: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chi-square tests, differences and Cramér's V</a:t>
            </a:r>
            <a:r>
              <a:rPr lang="en-US" sz="1200" dirty="0">
                <a:solidFill>
                  <a:srgbClr val="4A4A4A"/>
                </a:solidFill>
                <a:latin typeface="Segoe UI"/>
              </a:rPr>
              <a:t> by hypothesis, group and neighborhood.</a:t>
            </a:r>
          </a:p>
        </p:txBody>
      </p:sp>
      <p:sp>
        <p:nvSpPr>
          <p:cNvPr id="225" name="LinkL220"/>
          <p:cNvSpPr/>
          <p:nvPr/>
        </p:nvSpPr>
        <p:spPr>
          <a:xfrm>
            <a:off x="4622800" y="48260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1" spc="150" dirty="0">
                <a:solidFill>
                  <a:srgbClr val="8A8A8A"/>
                </a:solidFill>
                <a:latin typeface="Segoe UI"/>
              </a:rPr>
              <a:t>FILE</a:t>
            </a:r>
          </a:p>
        </p:txBody>
      </p:sp>
      <p:sp>
        <p:nvSpPr>
          <p:cNvPr id="226" name="Link220"/>
          <p:cNvSpPr/>
          <p:nvPr/>
        </p:nvSpPr>
        <p:spPr>
          <a:xfrm>
            <a:off x="4622800" y="5054600"/>
            <a:ext cx="2946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250" b="1" dirty="0">
                <a:solidFill>
                  <a:srgbClr val="C0623A"/>
                </a:solidFill>
                <a:latin typeface="Segoe UI"/>
                <a:hlinkClick r:id="rId3"/>
              </a:rPr>
              <a:t>Open in Google Sheets ↗</a:t>
            </a:r>
            <a:endParaRPr lang="en-US" sz="1250" b="1" dirty="0">
              <a:solidFill>
                <a:srgbClr val="C0623A"/>
              </a:solidFill>
              <a:latin typeface="Segoe UI"/>
            </a:endParaRPr>
          </a:p>
        </p:txBody>
      </p:sp>
      <p:sp>
        <p:nvSpPr>
          <p:cNvPr id="230" name="Card230"/>
          <p:cNvSpPr/>
          <p:nvPr/>
        </p:nvSpPr>
        <p:spPr>
          <a:xfrm>
            <a:off x="8178800" y="1905000"/>
            <a:ext cx="3556000" cy="3810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r230"/>
          <p:cNvSpPr/>
          <p:nvPr/>
        </p:nvSpPr>
        <p:spPr>
          <a:xfrm>
            <a:off x="8178800" y="1905000"/>
            <a:ext cx="3556000" cy="50800"/>
          </a:xfrm>
          <a:prstGeom prst="rect">
            <a:avLst/>
          </a:prstGeom>
          <a:solidFill>
            <a:srgbClr val="C06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Lbl230"/>
          <p:cNvSpPr/>
          <p:nvPr/>
        </p:nvSpPr>
        <p:spPr>
          <a:xfrm>
            <a:off x="8483600" y="2235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50" b="1" spc="150" dirty="0">
                <a:solidFill>
                  <a:srgbClr val="5E6B78"/>
                </a:solidFill>
                <a:latin typeface="Segoe UI"/>
              </a:rPr>
              <a:t>INTERACTIVE DASHBOARD</a:t>
            </a:r>
          </a:p>
        </p:txBody>
      </p:sp>
      <p:sp>
        <p:nvSpPr>
          <p:cNvPr id="233" name="Title230"/>
          <p:cNvSpPr/>
          <p:nvPr/>
        </p:nvSpPr>
        <p:spPr>
          <a:xfrm>
            <a:off x="8483600" y="25654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800" b="1" dirty="0">
                <a:solidFill>
                  <a:srgbClr val="232323"/>
                </a:solidFill>
                <a:latin typeface="Georgia"/>
              </a:rPr>
              <a:t>Power BI</a:t>
            </a:r>
          </a:p>
        </p:txBody>
      </p:sp>
      <p:sp>
        <p:nvSpPr>
          <p:cNvPr id="234" name="Desc230"/>
          <p:cNvSpPr/>
          <p:nvPr/>
        </p:nvSpPr>
        <p:spPr>
          <a:xfrm>
            <a:off x="8483600" y="3175000"/>
            <a:ext cx="2946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Segoe UI"/>
              </a:rPr>
              <a:t>No-show rates by lead time, SMS, patient profile, neighborhood and risk band — </a:t>
            </a:r>
            <a:r>
              <a:rPr lang="en-US" sz="1200" b="1" dirty="0">
                <a:solidFill>
                  <a:srgbClr val="232323"/>
                </a:solidFill>
                <a:latin typeface="Segoe UI"/>
              </a:rPr>
              <a:t>filterable for exploration.</a:t>
            </a:r>
          </a:p>
        </p:txBody>
      </p:sp>
      <p:sp>
        <p:nvSpPr>
          <p:cNvPr id="235" name="LinkL230"/>
          <p:cNvSpPr/>
          <p:nvPr/>
        </p:nvSpPr>
        <p:spPr>
          <a:xfrm>
            <a:off x="8483600" y="4826000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b="1" spc="150" dirty="0">
                <a:solidFill>
                  <a:srgbClr val="8A8A8A"/>
                </a:solidFill>
                <a:latin typeface="Segoe UI"/>
              </a:rPr>
              <a:t>DASHBOARD</a:t>
            </a:r>
          </a:p>
        </p:txBody>
      </p:sp>
      <p:sp>
        <p:nvSpPr>
          <p:cNvPr id="236" name="Link230"/>
          <p:cNvSpPr/>
          <p:nvPr/>
        </p:nvSpPr>
        <p:spPr>
          <a:xfrm>
            <a:off x="8483600" y="5080000"/>
            <a:ext cx="2946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250" b="1" u="sng" dirty="0">
                <a:solidFill>
                  <a:srgbClr val="C0623A"/>
                </a:solidFill>
                <a:latin typeface="Segoe UI"/>
                <a:hlinkClick r:id="rId4"/>
              </a:rPr>
              <a:t>Open in Power BI ↗</a:t>
            </a:r>
            <a:endParaRPr lang="en-US" sz="1250" b="1" u="sng" dirty="0">
              <a:solidFill>
                <a:srgbClr val="C0623A"/>
              </a:solidFill>
              <a:latin typeface="Segoe UI"/>
            </a:endParaRPr>
          </a:p>
        </p:txBody>
      </p:sp>
      <p:sp>
        <p:nvSpPr>
          <p:cNvPr id="250" name="Note"/>
          <p:cNvSpPr/>
          <p:nvPr/>
        </p:nvSpPr>
        <p:spPr>
          <a:xfrm>
            <a:off x="457200" y="64135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000" dirty="0">
                <a:solidFill>
                  <a:srgbClr val="595959"/>
                </a:solidFill>
                <a:latin typeface="Segoe UI"/>
              </a:rPr>
              <a:t>Source: project analysis of the Kaggle Medical Appointment No Shows dataset (Vitória / ES, Brazil, 2016).</a:t>
            </a:r>
          </a:p>
        </p:txBody>
      </p:sp>
    </p:spTree>
    <p:extLst>
      <p:ext uri="{BB962C8B-B14F-4D97-AF65-F5344CB8AC3E}">
        <p14:creationId xmlns:p14="http://schemas.microsoft.com/office/powerpoint/2010/main" val="774175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3DBCD0-A808-4EC1-9E41-63B60E6B392A}">
  <we:reference id="wa200010001" version="1.0.0.1" store="pt-PT" storeType="OMEX"/>
  <we:alternateReferences>
    <we:reference id="wa200010001" version="1.0.0.1" store="WA200010001" storeType="OMEX"/>
  </we:alternateReferences>
  <we:properties>
    <we:property name="claude.fileId" value="&quot;466f63c4-013c-4bee-8796-ef54b4c73b2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2891</TotalTime>
  <Words>3384</Words>
  <Application>Microsoft Office PowerPoint</Application>
  <PresentationFormat>Ecrã Panorâmico</PresentationFormat>
  <Paragraphs>434</Paragraphs>
  <Slides>22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Georgia</vt:lpstr>
      <vt:lpstr>Segoe UI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Vitoria Rodrigues Miranda</dc:creator>
  <cp:lastModifiedBy>Vitoria Rodrigues Miranda</cp:lastModifiedBy>
  <cp:revision>8</cp:revision>
  <dcterms:created xsi:type="dcterms:W3CDTF">2026-10-26T15:31:38Z</dcterms:created>
  <dcterms:modified xsi:type="dcterms:W3CDTF">2026-10-31T04:19:45Z</dcterms:modified>
</cp:coreProperties>
</file>